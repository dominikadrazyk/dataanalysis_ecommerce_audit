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Play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68">
          <p15:clr>
            <a:srgbClr val="747775"/>
          </p15:clr>
        </p15:guide>
      </p15:sldGuideLst>
    </p:ext>
    <p:ext uri="GoogleSlidesCustomDataVersion2">
      <go:slidesCustomData xmlns:go="http://customooxmlschemas.google.com/" r:id="rId33" roundtripDataSignature="AMtx7mjW4YPL7hZOyALygjF3aOp45OEa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Play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261d0950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261d0950f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261d0950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d261d0950f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261d0950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261d0950f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2a6c2236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2a6c2236b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2a6c2236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d2a6c2236b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2a6c2236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d2a6c2236b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2a6c2236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2a6c2236b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2a6c2236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d2a6c2236b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2a6c2236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2a6c2236b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2a6c2236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d2a6c2236b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2a6c2236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d2a6c2236b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2a6c2236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d2a6c2236b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2a6c2236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d2a6c2236b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olistbr/brazilian-ecommerc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47975" y="525175"/>
            <a:ext cx="10740600" cy="1492200"/>
          </a:xfrm>
          <a:prstGeom prst="rect">
            <a:avLst/>
          </a:prstGeom>
          <a:solidFill>
            <a:srgbClr val="CFD5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8588189" y="5609121"/>
            <a:ext cx="2938200" cy="843600"/>
          </a:xfrm>
          <a:prstGeom prst="rect">
            <a:avLst/>
          </a:prstGeom>
          <a:solidFill>
            <a:srgbClr val="CFD5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7986" y="2834947"/>
            <a:ext cx="10740600" cy="20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rgbClr val="000000"/>
                </a:solidFill>
              </a:rPr>
              <a:t>Does the platform's </a:t>
            </a:r>
            <a:r>
              <a:rPr b="1" lang="pl-PL" sz="1800">
                <a:solidFill>
                  <a:srgbClr val="516462"/>
                </a:solidFill>
              </a:rPr>
              <a:t>rapid volume growth</a:t>
            </a:r>
            <a:r>
              <a:rPr lang="pl-PL" sz="1800">
                <a:solidFill>
                  <a:srgbClr val="000000"/>
                </a:solidFill>
              </a:rPr>
              <a:t> outpace its logistical infrastructure? 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rgbClr val="000000"/>
                </a:solidFill>
              </a:rPr>
              <a:t>Is the long-term growth </a:t>
            </a:r>
            <a:r>
              <a:rPr b="1" lang="pl-PL" sz="1800">
                <a:solidFill>
                  <a:srgbClr val="516462"/>
                </a:solidFill>
              </a:rPr>
              <a:t>sustainable</a:t>
            </a:r>
            <a:r>
              <a:rPr lang="pl-PL" sz="1800">
                <a:solidFill>
                  <a:srgbClr val="000000"/>
                </a:solidFill>
              </a:rPr>
              <a:t>, or rather </a:t>
            </a:r>
            <a:r>
              <a:rPr b="1" lang="pl-PL" sz="1800">
                <a:solidFill>
                  <a:srgbClr val="516462"/>
                </a:solidFill>
              </a:rPr>
              <a:t>dependent</a:t>
            </a:r>
            <a:r>
              <a:rPr lang="pl-PL" sz="1800">
                <a:solidFill>
                  <a:srgbClr val="000000"/>
                </a:solidFill>
              </a:rPr>
              <a:t> on a highly concentrated group </a:t>
            </a:r>
            <a:br>
              <a:rPr lang="pl-PL" sz="1800">
                <a:solidFill>
                  <a:srgbClr val="000000"/>
                </a:solidFill>
              </a:rPr>
            </a:br>
            <a:r>
              <a:rPr lang="pl-PL" sz="1800">
                <a:solidFill>
                  <a:srgbClr val="000000"/>
                </a:solidFill>
              </a:rPr>
              <a:t>of Market Leaders and High-Yield product categories?</a:t>
            </a:r>
            <a:endParaRPr sz="2600">
              <a:solidFill>
                <a:srgbClr val="000000"/>
              </a:solidFill>
            </a:endParaRPr>
          </a:p>
        </p:txBody>
      </p:sp>
      <p:pic>
        <p:nvPicPr>
          <p:cNvPr descr="Learning Python » Khmer168.com – Your Source for IT Knowledge, Comparisons,  Best Practices, and ICT Insights in Cambodia Ratana SOTH - the IT Geek in  Cambodia" id="87" name="Google Shape;87;p1"/>
          <p:cNvPicPr preferRelativeResize="0"/>
          <p:nvPr/>
        </p:nvPicPr>
        <p:blipFill rotWithShape="1">
          <a:blip r:embed="rId3">
            <a:alphaModFix/>
          </a:blip>
          <a:srcRect b="0" l="23473" r="20891" t="0"/>
          <a:stretch/>
        </p:blipFill>
        <p:spPr>
          <a:xfrm>
            <a:off x="1643110" y="5671876"/>
            <a:ext cx="769085" cy="777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 Reviews 2025: Details, Pricing, &amp; Features | G2" id="88" name="Google Shape;88;p1"/>
          <p:cNvPicPr preferRelativeResize="0"/>
          <p:nvPr/>
        </p:nvPicPr>
        <p:blipFill rotWithShape="1">
          <a:blip r:embed="rId4">
            <a:alphaModFix/>
          </a:blip>
          <a:srcRect b="28887" l="29890" r="26379" t="25055"/>
          <a:stretch/>
        </p:blipFill>
        <p:spPr>
          <a:xfrm>
            <a:off x="2490854" y="5848801"/>
            <a:ext cx="949698" cy="525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GitHub? Beginner Guide For GitHub | by Ishara Madusanka | MS Club  of SLIIT | Medium" id="89" name="Google Shape;89;p1"/>
          <p:cNvPicPr preferRelativeResize="0"/>
          <p:nvPr/>
        </p:nvPicPr>
        <p:blipFill rotWithShape="1">
          <a:blip r:embed="rId5">
            <a:alphaModFix/>
          </a:blip>
          <a:srcRect b="17077" l="5208" r="7699" t="17619"/>
          <a:stretch/>
        </p:blipFill>
        <p:spPr>
          <a:xfrm>
            <a:off x="3440552" y="5803165"/>
            <a:ext cx="1461303" cy="61638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723762" y="342453"/>
            <a:ext cx="10781100" cy="108000"/>
          </a:xfrm>
          <a:prstGeom prst="rect">
            <a:avLst/>
          </a:prstGeom>
          <a:solidFill>
            <a:srgbClr val="69807E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8E1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874100" y="2092100"/>
            <a:ext cx="8443800" cy="108000"/>
          </a:xfrm>
          <a:prstGeom prst="rect">
            <a:avLst/>
          </a:prstGeom>
          <a:solidFill>
            <a:srgbClr val="69807E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630496" y="5623686"/>
            <a:ext cx="29382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</a:pPr>
            <a:r>
              <a:rPr b="1" i="0" lang="pl-PL" sz="1900" u="none" cap="none" strike="noStrike">
                <a:solidFill>
                  <a:srgbClr val="595959"/>
                </a:solidFill>
              </a:rPr>
              <a:t>BY DOMINIKA DRĄŻYK</a:t>
            </a:r>
            <a:br>
              <a:rPr b="1" i="0" lang="pl-PL" sz="1900" u="none" cap="none" strike="noStrike">
                <a:solidFill>
                  <a:srgbClr val="595959"/>
                </a:solidFill>
              </a:rPr>
            </a:br>
            <a:r>
              <a:rPr b="1" lang="pl-PL" sz="1900">
                <a:solidFill>
                  <a:srgbClr val="595959"/>
                </a:solidFill>
              </a:rPr>
              <a:t>MARCH</a:t>
            </a:r>
            <a:r>
              <a:rPr b="1" i="0" lang="pl-PL" sz="1900" u="none" cap="none" strike="noStrike">
                <a:solidFill>
                  <a:srgbClr val="595959"/>
                </a:solidFill>
              </a:rPr>
              <a:t>, 202</a:t>
            </a:r>
            <a:r>
              <a:rPr b="1" lang="pl-PL" sz="1900">
                <a:solidFill>
                  <a:srgbClr val="595959"/>
                </a:solidFill>
              </a:rPr>
              <a:t>6</a:t>
            </a:r>
            <a:endParaRPr sz="1900"/>
          </a:p>
        </p:txBody>
      </p:sp>
      <p:sp>
        <p:nvSpPr>
          <p:cNvPr id="93" name="Google Shape;93;p1"/>
          <p:cNvSpPr/>
          <p:nvPr/>
        </p:nvSpPr>
        <p:spPr>
          <a:xfrm>
            <a:off x="8588189" y="6432320"/>
            <a:ext cx="2938200" cy="108000"/>
          </a:xfrm>
          <a:prstGeom prst="rect">
            <a:avLst/>
          </a:prstGeom>
          <a:solidFill>
            <a:srgbClr val="69807E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6">
            <a:alphaModFix/>
          </a:blip>
          <a:srcRect b="11893" l="17234" r="12566" t="10122"/>
          <a:stretch/>
        </p:blipFill>
        <p:spPr>
          <a:xfrm>
            <a:off x="587821" y="5735905"/>
            <a:ext cx="949700" cy="68364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731825" y="567188"/>
            <a:ext cx="107649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l-PL" sz="3600">
                <a:solidFill>
                  <a:srgbClr val="000000"/>
                </a:solidFill>
              </a:rPr>
              <a:t>Olist - Brazilian E-Commerce Platform </a:t>
            </a:r>
            <a:endParaRPr b="1" sz="36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l-PL" sz="3600">
                <a:solidFill>
                  <a:srgbClr val="000000"/>
                </a:solidFill>
              </a:rPr>
              <a:t>Strategic Audit (2016–2018)</a:t>
            </a:r>
            <a:endParaRPr b="1" sz="3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25253" y="677504"/>
            <a:ext cx="5670748" cy="120355"/>
          </a:xfrm>
          <a:prstGeom prst="rect">
            <a:avLst/>
          </a:prstGeom>
          <a:solidFill>
            <a:srgbClr val="69807E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344570" y="154284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2800" u="none" cap="none" strike="noStrike">
                <a:solidFill>
                  <a:schemeClr val="dk1"/>
                </a:solidFill>
              </a:rPr>
              <a:t>Introduction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25251" y="1066922"/>
            <a:ext cx="5670600" cy="5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l-PL" sz="1600">
                <a:solidFill>
                  <a:schemeClr val="dk1"/>
                </a:solidFill>
              </a:rPr>
              <a:t>How much can we learn from </a:t>
            </a:r>
            <a:r>
              <a:rPr b="1" lang="pl-PL" sz="1600">
                <a:solidFill>
                  <a:srgbClr val="69807E"/>
                </a:solidFill>
              </a:rPr>
              <a:t>a major Brazilian marketplace</a:t>
            </a:r>
            <a:r>
              <a:rPr lang="pl-PL" sz="1600">
                <a:solidFill>
                  <a:schemeClr val="dk1"/>
                </a:solidFill>
              </a:rPr>
              <a:t> during its primary expansion phase? </a:t>
            </a:r>
            <a:br>
              <a:rPr lang="pl-PL" sz="1600">
                <a:solidFill>
                  <a:schemeClr val="dk1"/>
                </a:solidFill>
              </a:rPr>
            </a:br>
            <a:br>
              <a:rPr lang="pl-PL" sz="1600">
                <a:solidFill>
                  <a:schemeClr val="dk1"/>
                </a:solidFill>
              </a:rPr>
            </a:br>
            <a:r>
              <a:rPr lang="pl-PL" sz="1600">
                <a:solidFill>
                  <a:schemeClr val="dk1"/>
                </a:solidFill>
              </a:rPr>
              <a:t>This comprehensive audit extracts actionable business intelligence from a dataset of nearly 100,000 orders.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2900">
                <a:solidFill>
                  <a:srgbClr val="C89140"/>
                </a:solidFill>
              </a:rPr>
              <a:t>〽</a:t>
            </a:r>
            <a:r>
              <a:rPr lang="pl-PL" sz="1800">
                <a:solidFill>
                  <a:schemeClr val="dk1"/>
                </a:solidFill>
              </a:rPr>
              <a:t>️ </a:t>
            </a:r>
            <a:r>
              <a:rPr b="1" lang="pl-PL" sz="1600">
                <a:solidFill>
                  <a:srgbClr val="C89140"/>
                </a:solidFill>
              </a:rPr>
              <a:t>PRACTICAL BUSINESS QUESTIONS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pl-PL" sz="1600">
                <a:solidFill>
                  <a:schemeClr val="dk1"/>
                </a:solidFill>
              </a:rPr>
              <a:t>How does the merchant structure </a:t>
            </a:r>
            <a:r>
              <a:rPr b="1" lang="pl-PL" sz="1600">
                <a:solidFill>
                  <a:srgbClr val="69807E"/>
                </a:solidFill>
              </a:rPr>
              <a:t>impact operational reliability?</a:t>
            </a:r>
            <a:endParaRPr b="1" sz="1600">
              <a:solidFill>
                <a:srgbClr val="69807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pl-PL" sz="1600">
                <a:solidFill>
                  <a:schemeClr val="dk1"/>
                </a:solidFill>
              </a:rPr>
              <a:t>Is extreme revenue concentration </a:t>
            </a:r>
            <a:r>
              <a:rPr b="1" lang="pl-PL" sz="1600">
                <a:solidFill>
                  <a:srgbClr val="69807E"/>
                </a:solidFill>
              </a:rPr>
              <a:t>threatening the platform’s stability?</a:t>
            </a:r>
            <a:endParaRPr b="1" sz="1600">
              <a:solidFill>
                <a:srgbClr val="69807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pl-PL" sz="1600">
                <a:solidFill>
                  <a:schemeClr val="dk1"/>
                </a:solidFill>
              </a:rPr>
              <a:t>How significant is the variance between delivery estimates and </a:t>
            </a:r>
            <a:r>
              <a:rPr b="1" lang="pl-PL" sz="1600">
                <a:solidFill>
                  <a:srgbClr val="69807E"/>
                </a:solidFill>
              </a:rPr>
              <a:t>actual logistics performance?</a:t>
            </a:r>
            <a:endParaRPr b="1" sz="1600">
              <a:solidFill>
                <a:srgbClr val="69807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pl-PL" sz="1600">
                <a:solidFill>
                  <a:schemeClr val="dk1"/>
                </a:solidFill>
              </a:rPr>
              <a:t>What does the current momentum say about the </a:t>
            </a:r>
            <a:r>
              <a:rPr b="1" lang="pl-PL" sz="1600">
                <a:solidFill>
                  <a:srgbClr val="69807E"/>
                </a:solidFill>
              </a:rPr>
              <a:t>platform’s overall scalability?</a:t>
            </a:r>
            <a:endParaRPr b="1">
              <a:solidFill>
                <a:srgbClr val="69807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425251" y="1066922"/>
            <a:ext cx="5670600" cy="5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l-PL" sz="1600">
                <a:solidFill>
                  <a:schemeClr val="dk1"/>
                </a:solidFill>
              </a:rPr>
              <a:t>How much can we learn from </a:t>
            </a:r>
            <a:r>
              <a:rPr b="1" lang="pl-PL" sz="1600">
                <a:solidFill>
                  <a:srgbClr val="69807E"/>
                </a:solidFill>
              </a:rPr>
              <a:t>a major Brazilian marketplace</a:t>
            </a:r>
            <a:r>
              <a:rPr lang="pl-PL" sz="1600">
                <a:solidFill>
                  <a:schemeClr val="dk1"/>
                </a:solidFill>
              </a:rPr>
              <a:t> during its primary expansion phase? </a:t>
            </a:r>
            <a:br>
              <a:rPr lang="pl-PL" sz="1600">
                <a:solidFill>
                  <a:schemeClr val="dk1"/>
                </a:solidFill>
              </a:rPr>
            </a:br>
            <a:br>
              <a:rPr lang="pl-PL" sz="1600">
                <a:solidFill>
                  <a:schemeClr val="dk1"/>
                </a:solidFill>
              </a:rPr>
            </a:br>
            <a:r>
              <a:rPr lang="pl-PL" sz="1600">
                <a:solidFill>
                  <a:schemeClr val="dk1"/>
                </a:solidFill>
              </a:rPr>
              <a:t>This comprehensive audit extracts actionable business intelligence from a dataset of nearly 100,000 orders.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2900">
                <a:solidFill>
                  <a:srgbClr val="C89140"/>
                </a:solidFill>
              </a:rPr>
              <a:t>〽</a:t>
            </a:r>
            <a:r>
              <a:rPr lang="pl-PL" sz="1800">
                <a:solidFill>
                  <a:schemeClr val="dk1"/>
                </a:solidFill>
              </a:rPr>
              <a:t>️ </a:t>
            </a:r>
            <a:r>
              <a:rPr b="1" lang="pl-PL" sz="1600">
                <a:solidFill>
                  <a:srgbClr val="C89140"/>
                </a:solidFill>
              </a:rPr>
              <a:t>PRACTICAL BUSINESS QUESTIONS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pl-PL" sz="1600">
                <a:solidFill>
                  <a:schemeClr val="dk1"/>
                </a:solidFill>
              </a:rPr>
              <a:t>How does the merchant structure </a:t>
            </a:r>
            <a:r>
              <a:rPr b="1" lang="pl-PL" sz="1600">
                <a:solidFill>
                  <a:srgbClr val="69807E"/>
                </a:solidFill>
              </a:rPr>
              <a:t>impact operational reliability?</a:t>
            </a:r>
            <a:endParaRPr b="1" sz="1600">
              <a:solidFill>
                <a:srgbClr val="69807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pl-PL" sz="1600">
                <a:solidFill>
                  <a:schemeClr val="dk1"/>
                </a:solidFill>
              </a:rPr>
              <a:t>Is extreme revenue concentration </a:t>
            </a:r>
            <a:r>
              <a:rPr b="1" lang="pl-PL" sz="1600">
                <a:solidFill>
                  <a:srgbClr val="69807E"/>
                </a:solidFill>
              </a:rPr>
              <a:t>threatening the platform’s stability?</a:t>
            </a:r>
            <a:endParaRPr b="1" sz="1600">
              <a:solidFill>
                <a:srgbClr val="69807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pl-PL" sz="1600">
                <a:solidFill>
                  <a:schemeClr val="dk1"/>
                </a:solidFill>
              </a:rPr>
              <a:t>How significant is the variance between delivery estimates and </a:t>
            </a:r>
            <a:r>
              <a:rPr b="1" lang="pl-PL" sz="1600">
                <a:solidFill>
                  <a:srgbClr val="69807E"/>
                </a:solidFill>
              </a:rPr>
              <a:t>actual logistics performance?</a:t>
            </a:r>
            <a:endParaRPr b="1" sz="1600">
              <a:solidFill>
                <a:srgbClr val="69807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pl-PL" sz="1600">
                <a:solidFill>
                  <a:schemeClr val="dk1"/>
                </a:solidFill>
              </a:rPr>
              <a:t>What does the current momentum say about the </a:t>
            </a:r>
            <a:r>
              <a:rPr b="1" lang="pl-PL" sz="1600">
                <a:solidFill>
                  <a:srgbClr val="69807E"/>
                </a:solidFill>
              </a:rPr>
              <a:t>platform’s overall scalability?</a:t>
            </a:r>
            <a:endParaRPr b="1">
              <a:solidFill>
                <a:srgbClr val="69807E"/>
              </a:solidFill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670748" y="154283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source: 			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096000" y="677503"/>
            <a:ext cx="5670748" cy="120355"/>
          </a:xfrm>
          <a:prstGeom prst="rect">
            <a:avLst/>
          </a:prstGeom>
          <a:solidFill>
            <a:srgbClr val="516462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25100" y="1031000"/>
            <a:ext cx="5670900" cy="52848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6095999" y="1066922"/>
            <a:ext cx="5670600" cy="3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</a:rPr>
              <a:t>Olist E-Commerce Public Dataset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via. Kaggle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l-PL" sz="1600">
                <a:solidFill>
                  <a:schemeClr val="dk1"/>
                </a:solidFill>
              </a:rPr>
              <a:t>Authored by A. Sionek (2018)</a:t>
            </a:r>
            <a:r>
              <a:rPr b="1" lang="pl-PL" sz="1600">
                <a:solidFill>
                  <a:srgbClr val="97497B"/>
                </a:solidFill>
              </a:rPr>
              <a:t> </a:t>
            </a:r>
            <a:r>
              <a:rPr b="1" lang="pl-PL" sz="1600">
                <a:solidFill>
                  <a:srgbClr val="69807E"/>
                </a:solidFill>
              </a:rPr>
              <a:t>[ </a:t>
            </a:r>
            <a:r>
              <a:rPr b="1" lang="pl-PL" sz="1600" u="sng">
                <a:solidFill>
                  <a:srgbClr val="69807E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1" lang="pl-PL" sz="1600">
                <a:solidFill>
                  <a:srgbClr val="69807E"/>
                </a:solidFill>
              </a:rPr>
              <a:t> ]</a:t>
            </a:r>
            <a:endParaRPr sz="1600">
              <a:solidFill>
                <a:srgbClr val="69807E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228600" lvl="0" marL="457200" marR="3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900"/>
              <a:buNone/>
            </a:pPr>
            <a:r>
              <a:rPr b="1" lang="pl-PL" sz="1300">
                <a:solidFill>
                  <a:srgbClr val="287740"/>
                </a:solidFill>
              </a:rPr>
              <a:t>{ olist_customers_dataset.csv }</a:t>
            </a:r>
            <a:endParaRPr b="1" sz="1300">
              <a:solidFill>
                <a:srgbClr val="287740"/>
              </a:solidFill>
            </a:endParaRPr>
          </a:p>
          <a:p>
            <a:pPr indent="-228600" lvl="0" marL="457200" marR="3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900"/>
              <a:buNone/>
            </a:pPr>
            <a:r>
              <a:rPr b="1" lang="pl-PL" sz="1300">
                <a:solidFill>
                  <a:srgbClr val="287740"/>
                </a:solidFill>
              </a:rPr>
              <a:t>{ olist_geolocation_dataset.csv</a:t>
            </a:r>
            <a:r>
              <a:rPr b="1" lang="pl-PL" sz="1300">
                <a:solidFill>
                  <a:srgbClr val="287740"/>
                </a:solidFill>
              </a:rPr>
              <a:t> }</a:t>
            </a:r>
            <a:endParaRPr b="1" sz="1300">
              <a:solidFill>
                <a:srgbClr val="287740"/>
              </a:solidFill>
            </a:endParaRPr>
          </a:p>
          <a:p>
            <a:pPr indent="-228600" lvl="0" marL="457200" marR="3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900"/>
              <a:buNone/>
            </a:pPr>
            <a:r>
              <a:rPr b="1" lang="pl-PL" sz="1300">
                <a:solidFill>
                  <a:srgbClr val="287740"/>
                </a:solidFill>
              </a:rPr>
              <a:t>{ </a:t>
            </a:r>
            <a:r>
              <a:rPr b="1" lang="pl-PL" sz="1300">
                <a:solidFill>
                  <a:srgbClr val="287740"/>
                </a:solidFill>
              </a:rPr>
              <a:t>olist_order_items_dataset.csv</a:t>
            </a:r>
            <a:r>
              <a:rPr b="1" lang="pl-PL" sz="1300">
                <a:solidFill>
                  <a:srgbClr val="287740"/>
                </a:solidFill>
              </a:rPr>
              <a:t> }</a:t>
            </a:r>
            <a:endParaRPr b="1" sz="1300">
              <a:solidFill>
                <a:srgbClr val="287740"/>
              </a:solidFill>
            </a:endParaRPr>
          </a:p>
          <a:p>
            <a:pPr indent="-228600" lvl="0" marL="457200" marR="3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900"/>
              <a:buNone/>
            </a:pPr>
            <a:r>
              <a:rPr b="1" lang="pl-PL" sz="1300">
                <a:solidFill>
                  <a:srgbClr val="287740"/>
                </a:solidFill>
              </a:rPr>
              <a:t>{ </a:t>
            </a:r>
            <a:r>
              <a:rPr b="1" lang="pl-PL" sz="1300">
                <a:solidFill>
                  <a:srgbClr val="287740"/>
                </a:solidFill>
              </a:rPr>
              <a:t>olist_order_payments_dataset.csv</a:t>
            </a:r>
            <a:r>
              <a:rPr b="1" lang="pl-PL" sz="1300">
                <a:solidFill>
                  <a:srgbClr val="287740"/>
                </a:solidFill>
              </a:rPr>
              <a:t> }</a:t>
            </a:r>
            <a:endParaRPr b="1" sz="1300">
              <a:solidFill>
                <a:srgbClr val="287740"/>
              </a:solidFill>
            </a:endParaRPr>
          </a:p>
          <a:p>
            <a:pPr indent="-228600" lvl="0" marL="457200" marR="3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900"/>
              <a:buNone/>
            </a:pPr>
            <a:r>
              <a:rPr b="1" lang="pl-PL" sz="1300">
                <a:solidFill>
                  <a:srgbClr val="287740"/>
                </a:solidFill>
              </a:rPr>
              <a:t>{ </a:t>
            </a:r>
            <a:r>
              <a:rPr b="1" lang="pl-PL" sz="1300">
                <a:solidFill>
                  <a:srgbClr val="287740"/>
                </a:solidFill>
              </a:rPr>
              <a:t>olist_order_reviews_dataset.csv</a:t>
            </a:r>
            <a:r>
              <a:rPr b="1" lang="pl-PL" sz="1300">
                <a:solidFill>
                  <a:srgbClr val="287740"/>
                </a:solidFill>
              </a:rPr>
              <a:t> }</a:t>
            </a:r>
            <a:endParaRPr b="1" sz="1300">
              <a:solidFill>
                <a:srgbClr val="287740"/>
              </a:solidFill>
            </a:endParaRPr>
          </a:p>
          <a:p>
            <a:pPr indent="-228600" lvl="0" marL="457200" marR="3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900"/>
              <a:buNone/>
            </a:pPr>
            <a:r>
              <a:rPr b="1" lang="pl-PL" sz="1300">
                <a:solidFill>
                  <a:srgbClr val="287740"/>
                </a:solidFill>
              </a:rPr>
              <a:t>{ </a:t>
            </a:r>
            <a:r>
              <a:rPr b="1" lang="pl-PL" sz="1300">
                <a:solidFill>
                  <a:srgbClr val="287740"/>
                </a:solidFill>
              </a:rPr>
              <a:t>olist_orders_dataset.csv</a:t>
            </a:r>
            <a:r>
              <a:rPr b="1" lang="pl-PL" sz="1300">
                <a:solidFill>
                  <a:srgbClr val="287740"/>
                </a:solidFill>
              </a:rPr>
              <a:t> }</a:t>
            </a:r>
            <a:endParaRPr b="1" sz="1300">
              <a:solidFill>
                <a:srgbClr val="287740"/>
              </a:solidFill>
            </a:endParaRPr>
          </a:p>
          <a:p>
            <a:pPr indent="-228600" lvl="0" marL="457200" marR="3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900"/>
              <a:buNone/>
            </a:pPr>
            <a:r>
              <a:rPr b="1" lang="pl-PL" sz="1300">
                <a:solidFill>
                  <a:srgbClr val="287740"/>
                </a:solidFill>
              </a:rPr>
              <a:t>{ </a:t>
            </a:r>
            <a:r>
              <a:rPr b="1" lang="pl-PL" sz="1300">
                <a:solidFill>
                  <a:srgbClr val="287740"/>
                </a:solidFill>
              </a:rPr>
              <a:t>olist_products_dataset.csv</a:t>
            </a:r>
            <a:r>
              <a:rPr b="1" lang="pl-PL" sz="1300">
                <a:solidFill>
                  <a:srgbClr val="287740"/>
                </a:solidFill>
              </a:rPr>
              <a:t> }</a:t>
            </a:r>
            <a:endParaRPr b="1" sz="1300">
              <a:solidFill>
                <a:srgbClr val="287740"/>
              </a:solidFill>
            </a:endParaRPr>
          </a:p>
          <a:p>
            <a:pPr indent="-228600" lvl="0" marL="457200" marR="3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900"/>
              <a:buNone/>
            </a:pPr>
            <a:r>
              <a:rPr b="1" lang="pl-PL" sz="1300">
                <a:solidFill>
                  <a:srgbClr val="287740"/>
                </a:solidFill>
              </a:rPr>
              <a:t>{ </a:t>
            </a:r>
            <a:r>
              <a:rPr b="1" lang="pl-PL" sz="1300">
                <a:solidFill>
                  <a:srgbClr val="287740"/>
                </a:solidFill>
              </a:rPr>
              <a:t>olist_sellers_dataset.csv</a:t>
            </a:r>
            <a:r>
              <a:rPr b="1" lang="pl-PL" sz="1300">
                <a:solidFill>
                  <a:srgbClr val="287740"/>
                </a:solidFill>
              </a:rPr>
              <a:t> }</a:t>
            </a:r>
            <a:endParaRPr b="1" sz="1300">
              <a:solidFill>
                <a:srgbClr val="287740"/>
              </a:solidFill>
            </a:endParaRPr>
          </a:p>
          <a:p>
            <a:pPr indent="-228600" lvl="0" marL="457200" marR="3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900"/>
              <a:buNone/>
            </a:pPr>
            <a:r>
              <a:rPr b="1" lang="pl-PL" sz="1300">
                <a:solidFill>
                  <a:srgbClr val="287740"/>
                </a:solidFill>
              </a:rPr>
              <a:t>{ </a:t>
            </a:r>
            <a:r>
              <a:rPr b="1" lang="pl-PL" sz="1300">
                <a:solidFill>
                  <a:srgbClr val="287740"/>
                </a:solidFill>
              </a:rPr>
              <a:t>product_category_name_translation.csv }</a:t>
            </a:r>
            <a:endParaRPr b="1" sz="1300">
              <a:solidFill>
                <a:srgbClr val="287740"/>
              </a:solidFill>
            </a:endParaRPr>
          </a:p>
          <a:p>
            <a:pPr indent="0" lvl="0" marL="0" rtl="0" algn="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0308080" y="4267562"/>
            <a:ext cx="119100" cy="639000"/>
          </a:xfrm>
          <a:prstGeom prst="downArrow">
            <a:avLst>
              <a:gd fmla="val 50000" name="adj1"/>
              <a:gd fmla="val 107143" name="adj2"/>
            </a:avLst>
          </a:prstGeom>
          <a:solidFill>
            <a:srgbClr val="69807E"/>
          </a:solidFill>
          <a:ln cap="flat" cmpd="sng" w="19050">
            <a:solidFill>
              <a:srgbClr val="69807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8728231" y="5099425"/>
            <a:ext cx="3290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69807E"/>
                </a:solidFill>
                <a:latin typeface="Arial"/>
                <a:ea typeface="Arial"/>
                <a:cs typeface="Arial"/>
                <a:sym typeface="Arial"/>
              </a:rPr>
              <a:t>publicly available</a:t>
            </a:r>
            <a:endParaRPr>
              <a:solidFill>
                <a:srgbClr val="69807E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pl-PL" sz="1600">
                <a:solidFill>
                  <a:srgbClr val="69807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600">
                <a:solidFill>
                  <a:srgbClr val="69807E"/>
                </a:solidFill>
                <a:latin typeface="Arial"/>
                <a:ea typeface="Arial"/>
                <a:cs typeface="Arial"/>
                <a:sym typeface="Arial"/>
              </a:rPr>
              <a:t>structured, but requires pre-processing</a:t>
            </a:r>
            <a:endParaRPr b="1" sz="1600">
              <a:solidFill>
                <a:srgbClr val="69807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/>
        </p:nvSpPr>
        <p:spPr>
          <a:xfrm>
            <a:off x="5670748" y="154283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096000" y="677503"/>
            <a:ext cx="5670748" cy="120355"/>
          </a:xfrm>
          <a:prstGeom prst="rect">
            <a:avLst/>
          </a:prstGeom>
          <a:solidFill>
            <a:srgbClr val="69807E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6095999" y="1066922"/>
            <a:ext cx="5670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1: Pre-Staging Pipeline</a:t>
            </a:r>
            <a:endParaRPr b="1" sz="1600">
              <a:solidFill>
                <a:srgbClr val="859289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859289"/>
                </a:solidFill>
              </a:rPr>
              <a:t>Step </a:t>
            </a:r>
            <a:r>
              <a:rPr b="1" i="0" lang="pl-PL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lang="pl-PL">
                <a:solidFill>
                  <a:schemeClr val="dk1"/>
                </a:solidFill>
              </a:rPr>
              <a:t>Unicode normalization &amp; encoding correction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 </a:t>
            </a:r>
            <a:r>
              <a:rPr lang="pl-PL">
                <a:solidFill>
                  <a:schemeClr val="dk1"/>
                </a:solidFill>
              </a:rPr>
              <a:t>Python (</a:t>
            </a:r>
            <a:r>
              <a:rPr i="1" lang="pl-PL">
                <a:solidFill>
                  <a:schemeClr val="dk1"/>
                </a:solidFill>
              </a:rPr>
              <a:t>pandas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unidecode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pathlib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ecommerce_converter.py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C891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2: Relational ETL Process</a:t>
            </a:r>
            <a:endParaRPr sz="1600">
              <a:solidFill>
                <a:srgbClr val="85928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2: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Staging tables (raw data ingestion)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3: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DQ checks (null handling, anomaly detection)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4: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Idempotent load (standardizing data types, cleaning)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5: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Relationships, indexes, foreign keys (schema optimization)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</a:t>
            </a:r>
            <a:r>
              <a:rPr lang="pl-PL">
                <a:solidFill>
                  <a:schemeClr val="dk1"/>
                </a:solidFill>
              </a:rPr>
              <a:t> SQL (</a:t>
            </a:r>
            <a:r>
              <a:rPr i="1" lang="pl-PL">
                <a:solidFill>
                  <a:schemeClr val="dk1"/>
                </a:solidFill>
              </a:rPr>
              <a:t>PostgreSQL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287740"/>
                </a:solidFill>
              </a:rPr>
              <a:t>Environment:</a:t>
            </a:r>
            <a:r>
              <a:rPr lang="pl-PL">
                <a:solidFill>
                  <a:schemeClr val="dk1"/>
                </a:solidFill>
              </a:rPr>
              <a:t> pgAdmin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ecommerce_ETL.sql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6095999" y="1066922"/>
            <a:ext cx="5670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1: Pre-Staging Pipeline</a:t>
            </a:r>
            <a:endParaRPr b="1" sz="1600">
              <a:solidFill>
                <a:srgbClr val="859289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859289"/>
                </a:solidFill>
              </a:rPr>
              <a:t>Step </a:t>
            </a:r>
            <a:r>
              <a:rPr b="1" i="0" lang="pl-PL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lang="pl-PL">
                <a:solidFill>
                  <a:schemeClr val="dk1"/>
                </a:solidFill>
              </a:rPr>
              <a:t>Unicode normalization &amp; encoding correction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 </a:t>
            </a:r>
            <a:r>
              <a:rPr lang="pl-PL">
                <a:solidFill>
                  <a:schemeClr val="dk1"/>
                </a:solidFill>
              </a:rPr>
              <a:t>Python (</a:t>
            </a:r>
            <a:r>
              <a:rPr i="1" lang="pl-PL">
                <a:solidFill>
                  <a:schemeClr val="dk1"/>
                </a:solidFill>
              </a:rPr>
              <a:t>pandas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unidecode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pathlib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ecommerce_converter.py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C891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2: Relational ETL Process</a:t>
            </a:r>
            <a:endParaRPr sz="1600">
              <a:solidFill>
                <a:srgbClr val="85928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2: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Staging tables (raw data ingestion)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3: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DQ checks (null handling, anomaly detection)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4: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Idempotent load (standardizing data types, cleaning)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5: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Relationships, indexes, foreign keys (schema optimization)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</a:t>
            </a:r>
            <a:r>
              <a:rPr lang="pl-PL">
                <a:solidFill>
                  <a:schemeClr val="dk1"/>
                </a:solidFill>
              </a:rPr>
              <a:t> SQL (</a:t>
            </a:r>
            <a:r>
              <a:rPr i="1" lang="pl-PL">
                <a:solidFill>
                  <a:schemeClr val="dk1"/>
                </a:solidFill>
              </a:rPr>
              <a:t>PostgreSQL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287740"/>
                </a:solidFill>
              </a:rPr>
              <a:t>Environment:</a:t>
            </a:r>
            <a:r>
              <a:rPr lang="pl-PL">
                <a:solidFill>
                  <a:schemeClr val="dk1"/>
                </a:solidFill>
              </a:rPr>
              <a:t> pgAdmin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ecommerce_ETL.sql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096000" y="2724550"/>
            <a:ext cx="5670600" cy="34131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425251" y="154282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encoding correction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25251" y="677502"/>
            <a:ext cx="5670748" cy="120355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25252" y="677501"/>
            <a:ext cx="5670748" cy="120355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20375" y="5294875"/>
            <a:ext cx="5390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The script iteratively tests multiple encodings to ingest raw data without read errors. Then, it applies ASCII transliteration to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i="1" lang="pl-PL">
                <a:solidFill>
                  <a:schemeClr val="dk1"/>
                </a:solidFill>
              </a:rPr>
              <a:t>neutralize Brazilian Portuguese characters, outputting a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i="1" lang="pl-PL">
                <a:solidFill>
                  <a:schemeClr val="dk1"/>
                </a:solidFill>
              </a:rPr>
              <a:t>standardized UTF-8.</a:t>
            </a:r>
            <a:endParaRPr i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78450"/>
            <a:ext cx="5390550" cy="29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/>
        </p:nvSpPr>
        <p:spPr>
          <a:xfrm>
            <a:off x="6095999" y="1066922"/>
            <a:ext cx="5670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1: Pre-Staging Pipeline</a:t>
            </a:r>
            <a:endParaRPr b="1" sz="1600">
              <a:solidFill>
                <a:srgbClr val="859289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859289"/>
                </a:solidFill>
              </a:rPr>
              <a:t>Step </a:t>
            </a:r>
            <a:r>
              <a:rPr b="1" i="0" lang="pl-PL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lang="pl-PL">
                <a:solidFill>
                  <a:schemeClr val="dk1"/>
                </a:solidFill>
              </a:rPr>
              <a:t>Unicode normalization &amp; encoding correction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 </a:t>
            </a:r>
            <a:r>
              <a:rPr lang="pl-PL">
                <a:solidFill>
                  <a:schemeClr val="dk1"/>
                </a:solidFill>
              </a:rPr>
              <a:t>Python (</a:t>
            </a:r>
            <a:r>
              <a:rPr i="1" lang="pl-PL">
                <a:solidFill>
                  <a:schemeClr val="dk1"/>
                </a:solidFill>
              </a:rPr>
              <a:t>pandas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unidecode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pathlib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ecommerce_converter.py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C891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2: Relational ETL Process</a:t>
            </a:r>
            <a:endParaRPr sz="1600">
              <a:solidFill>
                <a:srgbClr val="85928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2: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Staging tables (raw data ingestion)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3: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DQ checks (null handling, anomaly detection)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4: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Idempotent load (standardizing data types, cleaning)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5: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Relationships, indexes, foreign keys (schema optimization)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</a:t>
            </a:r>
            <a:r>
              <a:rPr lang="pl-PL">
                <a:solidFill>
                  <a:schemeClr val="dk1"/>
                </a:solidFill>
              </a:rPr>
              <a:t> SQL (</a:t>
            </a:r>
            <a:r>
              <a:rPr i="1" lang="pl-PL">
                <a:solidFill>
                  <a:schemeClr val="dk1"/>
                </a:solidFill>
              </a:rPr>
              <a:t>PostgreSQL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287740"/>
                </a:solidFill>
              </a:rPr>
              <a:t>Environment:</a:t>
            </a:r>
            <a:r>
              <a:rPr lang="pl-PL">
                <a:solidFill>
                  <a:schemeClr val="dk1"/>
                </a:solidFill>
              </a:rPr>
              <a:t> pgAdmin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ecommerce_ETL.sql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096000" y="3811400"/>
            <a:ext cx="5670600" cy="11940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096000" y="677500"/>
            <a:ext cx="5670600" cy="20976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425251" y="154282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raw data ingestion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25251" y="677502"/>
            <a:ext cx="5670748" cy="120355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25252" y="677501"/>
            <a:ext cx="5670748" cy="120355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520375" y="5294875"/>
            <a:ext cx="5390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By defining all source fields as text, the staging phase prevents premature type-casting errors during the initial .csv ingestion. For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i="1" lang="pl-PL">
                <a:solidFill>
                  <a:schemeClr val="dk1"/>
                </a:solidFill>
              </a:rPr>
              <a:t>traceability, I added automated audit metadata (unique identifiers, timestamps, source file names).</a:t>
            </a:r>
            <a:endParaRPr i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72122"/>
            <a:ext cx="5390700" cy="430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261d0950f_0_29"/>
          <p:cNvSpPr txBox="1"/>
          <p:nvPr/>
        </p:nvSpPr>
        <p:spPr>
          <a:xfrm>
            <a:off x="6095999" y="1066922"/>
            <a:ext cx="5670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1: Pre-Staging Pipeline</a:t>
            </a:r>
            <a:endParaRPr b="1" sz="1600">
              <a:solidFill>
                <a:srgbClr val="859289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859289"/>
                </a:solidFill>
              </a:rPr>
              <a:t>Step </a:t>
            </a:r>
            <a:r>
              <a:rPr b="1" i="0" lang="pl-PL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lang="pl-PL">
                <a:solidFill>
                  <a:schemeClr val="dk1"/>
                </a:solidFill>
              </a:rPr>
              <a:t>Unicode normalization &amp; encoding correction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 </a:t>
            </a:r>
            <a:r>
              <a:rPr lang="pl-PL">
                <a:solidFill>
                  <a:schemeClr val="dk1"/>
                </a:solidFill>
              </a:rPr>
              <a:t>Python (</a:t>
            </a:r>
            <a:r>
              <a:rPr i="1" lang="pl-PL">
                <a:solidFill>
                  <a:schemeClr val="dk1"/>
                </a:solidFill>
              </a:rPr>
              <a:t>pandas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unidecode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pathlib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ecommerce_converter.py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C891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2: Relational ETL Process</a:t>
            </a:r>
            <a:endParaRPr sz="1600">
              <a:solidFill>
                <a:srgbClr val="85928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2: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Staging tables (raw data ingestion)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3: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DQ checks (null handling, anomaly detection)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4: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Idempotent load (standardizing data types, cleaning)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5: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Relationships, indexes, foreign keys (schema optimization)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</a:t>
            </a:r>
            <a:r>
              <a:rPr lang="pl-PL">
                <a:solidFill>
                  <a:schemeClr val="dk1"/>
                </a:solidFill>
              </a:rPr>
              <a:t> SQL (</a:t>
            </a:r>
            <a:r>
              <a:rPr i="1" lang="pl-PL">
                <a:solidFill>
                  <a:schemeClr val="dk1"/>
                </a:solidFill>
              </a:rPr>
              <a:t>PostgreSQL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287740"/>
                </a:solidFill>
              </a:rPr>
              <a:t>Environment:</a:t>
            </a:r>
            <a:r>
              <a:rPr lang="pl-PL">
                <a:solidFill>
                  <a:schemeClr val="dk1"/>
                </a:solidFill>
              </a:rPr>
              <a:t> pgAdmin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ecommerce_ETL.sql</a:t>
            </a:r>
            <a:endParaRPr/>
          </a:p>
        </p:txBody>
      </p:sp>
      <p:sp>
        <p:nvSpPr>
          <p:cNvPr id="149" name="Google Shape;149;g3d261d0950f_0_29"/>
          <p:cNvSpPr/>
          <p:nvPr/>
        </p:nvSpPr>
        <p:spPr>
          <a:xfrm>
            <a:off x="6096000" y="4197375"/>
            <a:ext cx="5670600" cy="8616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d261d0950f_0_29"/>
          <p:cNvSpPr/>
          <p:nvPr/>
        </p:nvSpPr>
        <p:spPr>
          <a:xfrm>
            <a:off x="6096000" y="677500"/>
            <a:ext cx="5670600" cy="20976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d261d0950f_0_29"/>
          <p:cNvSpPr/>
          <p:nvPr/>
        </p:nvSpPr>
        <p:spPr>
          <a:xfrm>
            <a:off x="6096000" y="3395525"/>
            <a:ext cx="5670600" cy="4134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d261d0950f_0_29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null handling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d261d0950f_0_29"/>
          <p:cNvSpPr/>
          <p:nvPr/>
        </p:nvSpPr>
        <p:spPr>
          <a:xfrm>
            <a:off x="425251" y="677502"/>
            <a:ext cx="5670600" cy="120300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d261d0950f_0_29"/>
          <p:cNvSpPr/>
          <p:nvPr/>
        </p:nvSpPr>
        <p:spPr>
          <a:xfrm>
            <a:off x="425252" y="677501"/>
            <a:ext cx="56706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d261d0950f_0_29"/>
          <p:cNvSpPr txBox="1"/>
          <p:nvPr/>
        </p:nvSpPr>
        <p:spPr>
          <a:xfrm>
            <a:off x="520375" y="5294875"/>
            <a:ext cx="5390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This query calculates the percentage of NULL or empty values for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i="1" lang="pl-PL">
                <a:solidFill>
                  <a:schemeClr val="dk1"/>
                </a:solidFill>
              </a:rPr>
              <a:t>every field, identifying critical gaps before any structural transformations are applied.</a:t>
            </a:r>
            <a:endParaRPr i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d261d0950f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78377"/>
            <a:ext cx="5390701" cy="3289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261d0950f_0_41"/>
          <p:cNvSpPr txBox="1"/>
          <p:nvPr/>
        </p:nvSpPr>
        <p:spPr>
          <a:xfrm>
            <a:off x="6095999" y="1066922"/>
            <a:ext cx="5670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1: Pre-Staging Pipeline</a:t>
            </a:r>
            <a:endParaRPr b="1" sz="1600">
              <a:solidFill>
                <a:srgbClr val="859289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859289"/>
                </a:solidFill>
              </a:rPr>
              <a:t>Step </a:t>
            </a:r>
            <a:r>
              <a:rPr b="1" i="0" lang="pl-PL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lang="pl-PL">
                <a:solidFill>
                  <a:schemeClr val="dk1"/>
                </a:solidFill>
              </a:rPr>
              <a:t>Unicode normalization &amp; encoding correction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 </a:t>
            </a:r>
            <a:r>
              <a:rPr lang="pl-PL">
                <a:solidFill>
                  <a:schemeClr val="dk1"/>
                </a:solidFill>
              </a:rPr>
              <a:t>Python (</a:t>
            </a:r>
            <a:r>
              <a:rPr i="1" lang="pl-PL">
                <a:solidFill>
                  <a:schemeClr val="dk1"/>
                </a:solidFill>
              </a:rPr>
              <a:t>pandas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unidecode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pathlib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ecommerce_converter.py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C891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2: Relational ETL Process</a:t>
            </a:r>
            <a:endParaRPr sz="1600">
              <a:solidFill>
                <a:srgbClr val="85928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2: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Staging tables (raw data ingestion)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3: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DQ checks (null handling, anomaly detection)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4: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Idempotent load (standardizing data types, cleaning)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5: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Relationships, indexes, foreign keys (schema optimization)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</a:t>
            </a:r>
            <a:r>
              <a:rPr lang="pl-PL">
                <a:solidFill>
                  <a:schemeClr val="dk1"/>
                </a:solidFill>
              </a:rPr>
              <a:t> SQL (</a:t>
            </a:r>
            <a:r>
              <a:rPr i="1" lang="pl-PL">
                <a:solidFill>
                  <a:schemeClr val="dk1"/>
                </a:solidFill>
              </a:rPr>
              <a:t>PostgreSQL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287740"/>
                </a:solidFill>
              </a:rPr>
              <a:t>Environment:</a:t>
            </a:r>
            <a:r>
              <a:rPr lang="pl-PL">
                <a:solidFill>
                  <a:schemeClr val="dk1"/>
                </a:solidFill>
              </a:rPr>
              <a:t> pgAdmin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ecommerce_ETL.sql</a:t>
            </a:r>
            <a:endParaRPr/>
          </a:p>
        </p:txBody>
      </p:sp>
      <p:sp>
        <p:nvSpPr>
          <p:cNvPr id="162" name="Google Shape;162;g3d261d0950f_0_41"/>
          <p:cNvSpPr/>
          <p:nvPr/>
        </p:nvSpPr>
        <p:spPr>
          <a:xfrm>
            <a:off x="6096000" y="4592375"/>
            <a:ext cx="5670600" cy="4578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d261d0950f_0_41"/>
          <p:cNvSpPr/>
          <p:nvPr/>
        </p:nvSpPr>
        <p:spPr>
          <a:xfrm>
            <a:off x="6096000" y="677500"/>
            <a:ext cx="5670600" cy="20976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d261d0950f_0_41"/>
          <p:cNvSpPr/>
          <p:nvPr/>
        </p:nvSpPr>
        <p:spPr>
          <a:xfrm>
            <a:off x="6096000" y="3379975"/>
            <a:ext cx="5670600" cy="815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d261d0950f_0_41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standardizing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d261d0950f_0_41"/>
          <p:cNvSpPr/>
          <p:nvPr/>
        </p:nvSpPr>
        <p:spPr>
          <a:xfrm>
            <a:off x="425251" y="677502"/>
            <a:ext cx="5670600" cy="120300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d261d0950f_0_41"/>
          <p:cNvSpPr/>
          <p:nvPr/>
        </p:nvSpPr>
        <p:spPr>
          <a:xfrm>
            <a:off x="425252" y="677501"/>
            <a:ext cx="56706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d261d0950f_0_41"/>
          <p:cNvSpPr txBox="1"/>
          <p:nvPr/>
        </p:nvSpPr>
        <p:spPr>
          <a:xfrm>
            <a:off x="520375" y="5294875"/>
            <a:ext cx="5390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The CTE utilizes regex pattern matching to validate numeric strings before casting them to their proper types, trimming whitespace and converting empty strings into NULL values.</a:t>
            </a:r>
            <a:endParaRPr i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d261d0950f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16942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d261d0950f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50" y="875386"/>
            <a:ext cx="5390700" cy="3522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261d0950f_0_53"/>
          <p:cNvSpPr txBox="1"/>
          <p:nvPr/>
        </p:nvSpPr>
        <p:spPr>
          <a:xfrm>
            <a:off x="6095999" y="1066922"/>
            <a:ext cx="5670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1: Pre-Staging Pipeline</a:t>
            </a:r>
            <a:endParaRPr b="1" sz="1600">
              <a:solidFill>
                <a:srgbClr val="859289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859289"/>
                </a:solidFill>
              </a:rPr>
              <a:t>Step </a:t>
            </a:r>
            <a:r>
              <a:rPr b="1" i="0" lang="pl-PL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lang="pl-PL">
                <a:solidFill>
                  <a:schemeClr val="dk1"/>
                </a:solidFill>
              </a:rPr>
              <a:t>Unicode normalization &amp; encoding correction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 </a:t>
            </a:r>
            <a:r>
              <a:rPr lang="pl-PL">
                <a:solidFill>
                  <a:schemeClr val="dk1"/>
                </a:solidFill>
              </a:rPr>
              <a:t>Python (</a:t>
            </a:r>
            <a:r>
              <a:rPr i="1" lang="pl-PL">
                <a:solidFill>
                  <a:schemeClr val="dk1"/>
                </a:solidFill>
              </a:rPr>
              <a:t>pandas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unidecode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i="1" lang="pl-PL">
                <a:solidFill>
                  <a:schemeClr val="dk1"/>
                </a:solidFill>
              </a:rPr>
              <a:t>pathlib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ecommerce_converter.py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C891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59289"/>
                </a:solidFill>
              </a:rPr>
              <a:t>Phase 2: Relational ETL Process</a:t>
            </a:r>
            <a:endParaRPr sz="1600">
              <a:solidFill>
                <a:srgbClr val="85928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2: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Staging tables (raw data ingestion)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3: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DQ checks (null handling, anomaly detection)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4: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Idempotent load (standardizing data types, cleaning)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859289"/>
                </a:solidFill>
              </a:rPr>
              <a:t>Step 5:</a:t>
            </a:r>
            <a:r>
              <a:rPr lang="pl-PL">
                <a:solidFill>
                  <a:srgbClr val="859289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Relationships, indexes, foreign keys (schema optimization)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Language:</a:t>
            </a:r>
            <a:r>
              <a:rPr lang="pl-PL">
                <a:solidFill>
                  <a:schemeClr val="dk1"/>
                </a:solidFill>
              </a:rPr>
              <a:t> SQL (</a:t>
            </a:r>
            <a:r>
              <a:rPr i="1" lang="pl-PL">
                <a:solidFill>
                  <a:schemeClr val="dk1"/>
                </a:solidFill>
              </a:rPr>
              <a:t>PostgreSQL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287740"/>
                </a:solidFill>
              </a:rPr>
              <a:t>Environment:</a:t>
            </a:r>
            <a:r>
              <a:rPr lang="pl-PL">
                <a:solidFill>
                  <a:schemeClr val="dk1"/>
                </a:solidFill>
              </a:rPr>
              <a:t> pgAdmin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>
                <a:solidFill>
                  <a:srgbClr val="188038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ecommerce_ETL.sql</a:t>
            </a:r>
            <a:endParaRPr/>
          </a:p>
        </p:txBody>
      </p:sp>
      <p:sp>
        <p:nvSpPr>
          <p:cNvPr id="176" name="Google Shape;176;g3d261d0950f_0_53"/>
          <p:cNvSpPr/>
          <p:nvPr/>
        </p:nvSpPr>
        <p:spPr>
          <a:xfrm>
            <a:off x="6096000" y="677500"/>
            <a:ext cx="5670600" cy="20976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d261d0950f_0_53"/>
          <p:cNvSpPr/>
          <p:nvPr/>
        </p:nvSpPr>
        <p:spPr>
          <a:xfrm>
            <a:off x="6096000" y="3371025"/>
            <a:ext cx="5670600" cy="12105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d261d0950f_0_53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schema optimization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d261d0950f_0_53"/>
          <p:cNvSpPr/>
          <p:nvPr/>
        </p:nvSpPr>
        <p:spPr>
          <a:xfrm>
            <a:off x="425251" y="677502"/>
            <a:ext cx="5670600" cy="120300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d261d0950f_0_53"/>
          <p:cNvSpPr/>
          <p:nvPr/>
        </p:nvSpPr>
        <p:spPr>
          <a:xfrm>
            <a:off x="425252" y="677501"/>
            <a:ext cx="56706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d261d0950f_0_53"/>
          <p:cNvSpPr txBox="1"/>
          <p:nvPr/>
        </p:nvSpPr>
        <p:spPr>
          <a:xfrm>
            <a:off x="520375" y="5294875"/>
            <a:ext cx="5390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The query enforces constraints (foreign keys and their references) and indexes to establish a formal star-schema architecture.</a:t>
            </a:r>
            <a:endParaRPr i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d261d0950f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78450"/>
            <a:ext cx="5390700" cy="1406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d261d0950f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788" y="2365370"/>
            <a:ext cx="538162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/>
          <p:nvPr/>
        </p:nvSpPr>
        <p:spPr>
          <a:xfrm>
            <a:off x="425251" y="154282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Intermediate results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25251" y="677502"/>
            <a:ext cx="5670748" cy="120355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25252" y="677501"/>
            <a:ext cx="5670748" cy="120355"/>
          </a:xfrm>
          <a:prstGeom prst="rect">
            <a:avLst/>
          </a:prstGeom>
          <a:solidFill>
            <a:srgbClr val="188038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497063" y="1052967"/>
            <a:ext cx="6163800" cy="3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287740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r>
              <a:rPr b="1" lang="pl-PL" sz="1600">
                <a:solidFill>
                  <a:srgbClr val="287740"/>
                </a:solidFill>
              </a:rPr>
              <a:t>olist_customers_dataset</a:t>
            </a:r>
            <a:r>
              <a:rPr lang="pl-PL" sz="1600">
                <a:solidFill>
                  <a:srgbClr val="287740"/>
                </a:solidFill>
              </a:rPr>
              <a:t>_conv</a:t>
            </a:r>
            <a:r>
              <a:rPr b="1" lang="pl-PL" sz="1600">
                <a:solidFill>
                  <a:srgbClr val="287740"/>
                </a:solidFill>
              </a:rPr>
              <a:t>.csv } …</a:t>
            </a:r>
            <a:endParaRPr b="1" sz="16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60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olist_geolocation_dataset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0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olist_order_items_dataset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 </a:t>
            </a:r>
            <a:br>
              <a:rPr b="1" lang="pl-PL" sz="1000">
                <a:solidFill>
                  <a:srgbClr val="287740"/>
                </a:solidFill>
              </a:rPr>
            </a:br>
            <a:r>
              <a:rPr b="1" lang="pl-PL" sz="1000">
                <a:solidFill>
                  <a:srgbClr val="287740"/>
                </a:solidFill>
              </a:rPr>
              <a:t>{ olist_order_payments_dataset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0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olist_order_reviews_dataset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0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olist_orders_dataset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0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olist_products_dataset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0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olist_sellers_dataset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br>
              <a:rPr b="1" lang="pl-PL" sz="1000">
                <a:solidFill>
                  <a:srgbClr val="287740"/>
                </a:solidFill>
              </a:rPr>
            </a:br>
            <a:r>
              <a:rPr b="1" lang="pl-PL" sz="1000">
                <a:solidFill>
                  <a:srgbClr val="287740"/>
                </a:solidFill>
              </a:rPr>
              <a:t>{ product_category_name_translation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300">
              <a:solidFill>
                <a:srgbClr val="224378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i="1" lang="pl-PL">
                <a:solidFill>
                  <a:schemeClr val="dk1"/>
                </a:solidFill>
              </a:rPr>
              <a:t>O</a:t>
            </a:r>
            <a:r>
              <a:rPr i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datasets converted (pre-staging)</a:t>
            </a:r>
            <a:r>
              <a:rPr i="1" lang="pl-PL">
                <a:solidFill>
                  <a:schemeClr val="dk1"/>
                </a:solidFill>
              </a:rPr>
              <a:t> before loading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188038"/>
                </a:solidFill>
              </a:rPr>
              <a:t>ecommerce_converter.py</a:t>
            </a:r>
            <a:endParaRPr>
              <a:solidFill>
                <a:srgbClr val="188038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pl-PL">
                <a:solidFill>
                  <a:schemeClr val="dk1"/>
                </a:solidFill>
              </a:rPr>
              <a:t>Python pre-staging code that can be reused in future</a:t>
            </a:r>
            <a:r>
              <a:rPr i="1" lang="pl-PL" sz="1200">
                <a:solidFill>
                  <a:schemeClr val="dk1"/>
                </a:solidFill>
              </a:rPr>
              <a:t>;</a:t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-PL" sz="1600">
                <a:solidFill>
                  <a:srgbClr val="188038"/>
                </a:solidFill>
              </a:rPr>
              <a:t>ecommerce_ETL.sql</a:t>
            </a:r>
            <a:endParaRPr>
              <a:solidFill>
                <a:srgbClr val="188038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pl-PL">
                <a:solidFill>
                  <a:schemeClr val="dk1"/>
                </a:solidFill>
              </a:rPr>
              <a:t>PostgreSQL ETL code that can be reused in future</a:t>
            </a:r>
            <a:r>
              <a:rPr i="1" lang="pl-PL" sz="1200">
                <a:solidFill>
                  <a:schemeClr val="dk1"/>
                </a:solidFill>
              </a:rPr>
              <a:t>;</a:t>
            </a:r>
            <a:endParaRPr i="1" sz="1200">
              <a:solidFill>
                <a:schemeClr val="dk1"/>
              </a:solidFill>
            </a:endParaRPr>
          </a:p>
        </p:txBody>
      </p:sp>
      <p:pic>
        <p:nvPicPr>
          <p:cNvPr descr="36- data source Vector Icons free download in SVG, PNG Format"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23" y="1101510"/>
            <a:ext cx="434788" cy="434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193" name="Google Shape;19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8303" y="3516451"/>
            <a:ext cx="408435" cy="408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194" name="Google Shape;1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8303" y="4180501"/>
            <a:ext cx="408435" cy="408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/>
          <p:nvPr/>
        </p:nvSpPr>
        <p:spPr>
          <a:xfrm>
            <a:off x="7099350" y="154275"/>
            <a:ext cx="466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7099425" y="677500"/>
            <a:ext cx="4667400" cy="120300"/>
          </a:xfrm>
          <a:prstGeom prst="rect">
            <a:avLst/>
          </a:prstGeom>
          <a:solidFill>
            <a:srgbClr val="516462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7099425" y="1066925"/>
            <a:ext cx="46671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pl-PL">
                <a:solidFill>
                  <a:srgbClr val="5F6368"/>
                </a:solidFill>
              </a:rPr>
              <a:t>Seller Performance &amp; Delivery Delays Over Time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Quarterly Order Volume by Seller Performance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Seller Distribution across Delivery Delay Tiers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Trailing 6 Months Late Delivery Rate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Q1.4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Dynamic Rank of Seller Delivery Delay Risk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2: </a:t>
            </a:r>
            <a:r>
              <a:rPr b="1" lang="pl-PL">
                <a:solidFill>
                  <a:srgbClr val="5F6368"/>
                </a:solidFill>
              </a:rPr>
              <a:t>Product Category Profitability &amp; Price Sensitivity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Category Portfolio: Revenue, Volume and Price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r>
              <a:rPr lang="pl-PL" sz="1200">
                <a:solidFill>
                  <a:schemeClr val="dk1"/>
                </a:solidFill>
              </a:rPr>
              <a:t> Global and Internal Revenue Share by Price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b="1" lang="pl-PL">
                <a:solidFill>
                  <a:srgbClr val="5F6368"/>
                </a:solidFill>
              </a:rPr>
              <a:t>Geographic Impact on Delivery Performance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Median Delivery Time by Geographical State</a:t>
            </a:r>
            <a:br>
              <a:rPr lang="pl-PL" sz="1200">
                <a:solidFill>
                  <a:schemeClr val="dk1"/>
                </a:solidFill>
              </a:rPr>
            </a:b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Delivery Reliability by Geographical State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r>
              <a:rPr lang="pl-PL" sz="1200">
                <a:solidFill>
                  <a:schemeClr val="dk1"/>
                </a:solidFill>
              </a:rPr>
              <a:t> Revenue at Risk Due to Late Deliveries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pl-PL">
                <a:solidFill>
                  <a:srgbClr val="5F6368"/>
                </a:solidFill>
              </a:rPr>
              <a:t>Q4: Market Growth Trajectory &amp; Revenue Momentum</a:t>
            </a:r>
            <a:endParaRPr b="1">
              <a:solidFill>
                <a:srgbClr val="5F6368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pl-PL" sz="1200">
                <a:solidFill>
                  <a:srgbClr val="859289"/>
                </a:solidFill>
              </a:rPr>
              <a:t>Q4.1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Monthly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Q4.2</a:t>
            </a:r>
            <a:r>
              <a:rPr lang="pl-PL" sz="1200">
                <a:solidFill>
                  <a:schemeClr val="dk1"/>
                </a:solidFill>
              </a:rPr>
              <a:t> MoM Growth Rate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Q4.3</a:t>
            </a:r>
            <a:r>
              <a:rPr lang="pl-PL" sz="1200">
                <a:solidFill>
                  <a:schemeClr val="dk1"/>
                </a:solidFill>
              </a:rPr>
              <a:t> Trailing 3 Month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b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200">
                <a:solidFill>
                  <a:srgbClr val="188038"/>
                </a:solidFill>
              </a:rPr>
              <a:t>Language:</a:t>
            </a:r>
            <a:r>
              <a:rPr lang="pl-PL" sz="1200">
                <a:solidFill>
                  <a:schemeClr val="dk1"/>
                </a:solidFill>
              </a:rPr>
              <a:t> Python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i="1" lang="pl-PL" sz="1200">
                <a:solidFill>
                  <a:schemeClr val="dk1"/>
                </a:solidFill>
              </a:rPr>
              <a:t>pandas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Jupyter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Notebook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 sz="1200">
                <a:solidFill>
                  <a:srgbClr val="188038"/>
                </a:solidFill>
              </a:rPr>
              <a:t>Code:</a:t>
            </a:r>
            <a:r>
              <a:rPr lang="pl-PL" sz="1200">
                <a:solidFill>
                  <a:schemeClr val="dk1"/>
                </a:solidFill>
              </a:rPr>
              <a:t> </a:t>
            </a:r>
            <a:r>
              <a:rPr i="1" lang="pl-PL" sz="1200">
                <a:solidFill>
                  <a:schemeClr val="dk1"/>
                </a:solidFill>
              </a:rPr>
              <a:t>ecommerce_analysis.ipynb</a:t>
            </a:r>
            <a:endParaRPr i="1" sz="1200"/>
          </a:p>
        </p:txBody>
      </p:sp>
      <p:sp>
        <p:nvSpPr>
          <p:cNvPr id="202" name="Google Shape;202;p8"/>
          <p:cNvSpPr txBox="1"/>
          <p:nvPr/>
        </p:nvSpPr>
        <p:spPr>
          <a:xfrm>
            <a:off x="497063" y="1052967"/>
            <a:ext cx="6163800" cy="3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287740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r>
              <a:rPr b="1" lang="pl-PL" sz="1600">
                <a:solidFill>
                  <a:srgbClr val="287740"/>
                </a:solidFill>
              </a:rPr>
              <a:t>olist_customers_dataset</a:t>
            </a:r>
            <a:r>
              <a:rPr lang="pl-PL" sz="1600">
                <a:solidFill>
                  <a:srgbClr val="287740"/>
                </a:solidFill>
              </a:rPr>
              <a:t>_conv</a:t>
            </a:r>
            <a:r>
              <a:rPr b="1" lang="pl-PL" sz="1600">
                <a:solidFill>
                  <a:srgbClr val="287740"/>
                </a:solidFill>
              </a:rPr>
              <a:t>.csv } …</a:t>
            </a:r>
            <a:endParaRPr b="1" sz="16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60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olist_geolocation_dataset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0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olist_order_items_dataset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 </a:t>
            </a:r>
            <a:br>
              <a:rPr b="1" lang="pl-PL" sz="1000">
                <a:solidFill>
                  <a:srgbClr val="287740"/>
                </a:solidFill>
              </a:rPr>
            </a:br>
            <a:r>
              <a:rPr b="1" lang="pl-PL" sz="1000">
                <a:solidFill>
                  <a:srgbClr val="287740"/>
                </a:solidFill>
              </a:rPr>
              <a:t>{ olist_order_payments_dataset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0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olist_order_reviews_dataset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0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olist_orders_dataset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0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olist_products_dataset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000">
              <a:solidFill>
                <a:srgbClr val="287740"/>
              </a:solidFill>
            </a:endParaRPr>
          </a:p>
          <a:p>
            <a:pPr indent="-228600" lvl="0" marL="457200" marR="38100" rtl="0" algn="l">
              <a:spcBef>
                <a:spcPts val="0"/>
              </a:spcBef>
              <a:spcAft>
                <a:spcPts val="0"/>
              </a:spcAft>
              <a:buClr>
                <a:srgbClr val="287740"/>
              </a:buClr>
              <a:buSzPts val="600"/>
              <a:buNone/>
            </a:pPr>
            <a:r>
              <a:rPr b="1" lang="pl-PL" sz="1000">
                <a:solidFill>
                  <a:srgbClr val="287740"/>
                </a:solidFill>
              </a:rPr>
              <a:t>{ olist_sellers_dataset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br>
              <a:rPr b="1" lang="pl-PL" sz="1000">
                <a:solidFill>
                  <a:srgbClr val="287740"/>
                </a:solidFill>
              </a:rPr>
            </a:br>
            <a:r>
              <a:rPr b="1" lang="pl-PL" sz="1000">
                <a:solidFill>
                  <a:srgbClr val="287740"/>
                </a:solidFill>
              </a:rPr>
              <a:t>{ product_category_name_translation</a:t>
            </a:r>
            <a:r>
              <a:rPr lang="pl-PL" sz="1000">
                <a:solidFill>
                  <a:srgbClr val="287740"/>
                </a:solidFill>
              </a:rPr>
              <a:t>_conv</a:t>
            </a:r>
            <a:r>
              <a:rPr b="1" lang="pl-PL" sz="1000">
                <a:solidFill>
                  <a:srgbClr val="287740"/>
                </a:solidFill>
              </a:rPr>
              <a:t>.csv }</a:t>
            </a:r>
            <a:endParaRPr b="1" sz="1300">
              <a:solidFill>
                <a:srgbClr val="224378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i="1" lang="pl-PL">
                <a:solidFill>
                  <a:schemeClr val="dk1"/>
                </a:solidFill>
              </a:rPr>
              <a:t>O</a:t>
            </a:r>
            <a:r>
              <a:rPr i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datasets converted (pre-staging)</a:t>
            </a:r>
            <a:r>
              <a:rPr i="1" lang="pl-PL">
                <a:solidFill>
                  <a:schemeClr val="dk1"/>
                </a:solidFill>
              </a:rPr>
              <a:t> before loading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188038"/>
                </a:solidFill>
              </a:rPr>
              <a:t>ecommerce_converter.py</a:t>
            </a:r>
            <a:endParaRPr>
              <a:solidFill>
                <a:srgbClr val="188038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pl-PL">
                <a:solidFill>
                  <a:schemeClr val="dk1"/>
                </a:solidFill>
              </a:rPr>
              <a:t>Python pre-staging code that can be reused in future</a:t>
            </a:r>
            <a:r>
              <a:rPr i="1" lang="pl-PL" sz="1200">
                <a:solidFill>
                  <a:schemeClr val="dk1"/>
                </a:solidFill>
              </a:rPr>
              <a:t>;</a:t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-PL" sz="1600">
                <a:solidFill>
                  <a:srgbClr val="188038"/>
                </a:solidFill>
              </a:rPr>
              <a:t>ecommerce_ETL.sql</a:t>
            </a:r>
            <a:endParaRPr>
              <a:solidFill>
                <a:srgbClr val="188038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pl-PL">
                <a:solidFill>
                  <a:schemeClr val="dk1"/>
                </a:solidFill>
              </a:rPr>
              <a:t>PostgreSQL ETL code that can be reused in future</a:t>
            </a:r>
            <a:r>
              <a:rPr i="1" lang="pl-PL" sz="1200">
                <a:solidFill>
                  <a:schemeClr val="dk1"/>
                </a:solidFill>
              </a:rPr>
              <a:t>;</a:t>
            </a:r>
            <a:endParaRPr i="1" sz="1200">
              <a:solidFill>
                <a:schemeClr val="dk1"/>
              </a:solidFill>
            </a:endParaRPr>
          </a:p>
        </p:txBody>
      </p:sp>
      <p:pic>
        <p:nvPicPr>
          <p:cNvPr descr="36- data source Vector Icons free download in SVG, PNG Format"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23" y="1101510"/>
            <a:ext cx="434788" cy="434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204" name="Google Shape;2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8303" y="3516451"/>
            <a:ext cx="408435" cy="408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205" name="Google Shape;2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8303" y="4180501"/>
            <a:ext cx="408435" cy="40843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497076" y="878447"/>
            <a:ext cx="5545200" cy="47706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 txBox="1"/>
          <p:nvPr/>
        </p:nvSpPr>
        <p:spPr>
          <a:xfrm>
            <a:off x="425251" y="154282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dynamic thresholding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25250" y="677500"/>
            <a:ext cx="66024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520372" y="5294883"/>
            <a:ext cx="557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Using the Interquartile Range (IQR) I establish self-adjusting thresholds at the 25th and 75th percentiles to objectively categorize merchants into reliability tiers. This approach avoids hardcoded KPIs, allowing the business to tier based on current market reality.</a:t>
            </a:r>
            <a:endParaRPr sz="1200"/>
          </a:p>
        </p:txBody>
      </p:sp>
      <p:sp>
        <p:nvSpPr>
          <p:cNvPr id="214" name="Google Shape;214;p9"/>
          <p:cNvSpPr/>
          <p:nvPr/>
        </p:nvSpPr>
        <p:spPr>
          <a:xfrm>
            <a:off x="7099425" y="677500"/>
            <a:ext cx="4667400" cy="120300"/>
          </a:xfrm>
          <a:prstGeom prst="rect">
            <a:avLst/>
          </a:prstGeom>
          <a:solidFill>
            <a:srgbClr val="516462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7099425" y="1066925"/>
            <a:ext cx="46671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pl-PL">
                <a:solidFill>
                  <a:srgbClr val="5F6368"/>
                </a:solidFill>
              </a:rPr>
              <a:t>Seller Performance &amp; Delivery Delays Over Time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Quarterly Order Volume by Seller Performance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Seller Distribution across Delivery Delay Tiers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Trailing 6 Months Late Delivery Rate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Q1.4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Dynamic Rank of Seller Delivery Delay Risk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2: </a:t>
            </a:r>
            <a:r>
              <a:rPr b="1" lang="pl-PL">
                <a:solidFill>
                  <a:srgbClr val="5F6368"/>
                </a:solidFill>
              </a:rPr>
              <a:t>Product Category Profitability &amp; Price Sensitivity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Category Portfolio: Revenue, Volume and Price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r>
              <a:rPr lang="pl-PL" sz="1200">
                <a:solidFill>
                  <a:schemeClr val="dk1"/>
                </a:solidFill>
              </a:rPr>
              <a:t> Global and Internal Revenue Share by Price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b="1" lang="pl-PL">
                <a:solidFill>
                  <a:srgbClr val="5F6368"/>
                </a:solidFill>
              </a:rPr>
              <a:t>Geographic Impact on Delivery Performance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Median Delivery Time by Geographical State</a:t>
            </a:r>
            <a:br>
              <a:rPr lang="pl-PL" sz="1200">
                <a:solidFill>
                  <a:schemeClr val="dk1"/>
                </a:solidFill>
              </a:rPr>
            </a:b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Delivery Reliability by Geographical State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r>
              <a:rPr lang="pl-PL" sz="1200">
                <a:solidFill>
                  <a:schemeClr val="dk1"/>
                </a:solidFill>
              </a:rPr>
              <a:t> Revenue at Risk Due to Late Deliveries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pl-PL">
                <a:solidFill>
                  <a:srgbClr val="5F6368"/>
                </a:solidFill>
              </a:rPr>
              <a:t>Q4: Market Growth Trajectory &amp; Revenue Momentum</a:t>
            </a:r>
            <a:endParaRPr b="1">
              <a:solidFill>
                <a:srgbClr val="5F6368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pl-PL" sz="1200">
                <a:solidFill>
                  <a:srgbClr val="859289"/>
                </a:solidFill>
              </a:rPr>
              <a:t>Q4.1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Monthly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Q4.2</a:t>
            </a:r>
            <a:r>
              <a:rPr lang="pl-PL" sz="1200">
                <a:solidFill>
                  <a:schemeClr val="dk1"/>
                </a:solidFill>
              </a:rPr>
              <a:t> MoM Growth Rate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Q4.3</a:t>
            </a:r>
            <a:r>
              <a:rPr lang="pl-PL" sz="1200">
                <a:solidFill>
                  <a:schemeClr val="dk1"/>
                </a:solidFill>
              </a:rPr>
              <a:t> Trailing 3 Month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200">
                <a:solidFill>
                  <a:srgbClr val="188038"/>
                </a:solidFill>
              </a:rPr>
              <a:t>Language:</a:t>
            </a:r>
            <a:r>
              <a:rPr lang="pl-PL" sz="1200">
                <a:solidFill>
                  <a:schemeClr val="dk1"/>
                </a:solidFill>
              </a:rPr>
              <a:t> Python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i="1" lang="pl-PL" sz="1200">
                <a:solidFill>
                  <a:schemeClr val="dk1"/>
                </a:solidFill>
              </a:rPr>
              <a:t>pandas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Jupyter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Notebook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 sz="1200">
                <a:solidFill>
                  <a:srgbClr val="188038"/>
                </a:solidFill>
              </a:rPr>
              <a:t>Code:</a:t>
            </a:r>
            <a:r>
              <a:rPr lang="pl-PL" sz="1200">
                <a:solidFill>
                  <a:schemeClr val="dk1"/>
                </a:solidFill>
              </a:rPr>
              <a:t> </a:t>
            </a:r>
            <a:r>
              <a:rPr i="1" lang="pl-PL" sz="1200">
                <a:solidFill>
                  <a:schemeClr val="dk1"/>
                </a:solidFill>
              </a:rPr>
              <a:t>ecommerce_analysis.ipynb</a:t>
            </a:r>
            <a:endParaRPr i="1" sz="1200"/>
          </a:p>
        </p:txBody>
      </p:sp>
      <p:sp>
        <p:nvSpPr>
          <p:cNvPr id="216" name="Google Shape;216;p9"/>
          <p:cNvSpPr/>
          <p:nvPr/>
        </p:nvSpPr>
        <p:spPr>
          <a:xfrm>
            <a:off x="7099125" y="1375325"/>
            <a:ext cx="4667400" cy="263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099125" y="1862562"/>
            <a:ext cx="4667400" cy="34836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78450"/>
            <a:ext cx="6485675" cy="314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2a6c2236b_0_73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dynamic thresholding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d2a6c2236b_0_73"/>
          <p:cNvSpPr/>
          <p:nvPr/>
        </p:nvSpPr>
        <p:spPr>
          <a:xfrm>
            <a:off x="425250" y="677500"/>
            <a:ext cx="66024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d2a6c2236b_0_73"/>
          <p:cNvSpPr txBox="1"/>
          <p:nvPr/>
        </p:nvSpPr>
        <p:spPr>
          <a:xfrm>
            <a:off x="520372" y="5294883"/>
            <a:ext cx="557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-PL" sz="1600">
                <a:solidFill>
                  <a:srgbClr val="C89140"/>
                </a:solidFill>
              </a:rPr>
              <a:t>Business Insight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l-PL">
                <a:solidFill>
                  <a:schemeClr val="dk1"/>
                </a:solidFill>
              </a:rPr>
              <a:t>The prevalence of Low Risk sellers suggests that the platform's delivery infrastructure and the logic of estimating delivery time are well-aligned for the majority of merchants.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226" name="Google Shape;226;g3d2a6c2236b_0_73"/>
          <p:cNvSpPr/>
          <p:nvPr/>
        </p:nvSpPr>
        <p:spPr>
          <a:xfrm>
            <a:off x="7099425" y="677500"/>
            <a:ext cx="4667400" cy="120300"/>
          </a:xfrm>
          <a:prstGeom prst="rect">
            <a:avLst/>
          </a:prstGeom>
          <a:solidFill>
            <a:srgbClr val="516462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d2a6c2236b_0_73"/>
          <p:cNvSpPr txBox="1"/>
          <p:nvPr/>
        </p:nvSpPr>
        <p:spPr>
          <a:xfrm>
            <a:off x="7099425" y="1066925"/>
            <a:ext cx="46671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pl-PL">
                <a:solidFill>
                  <a:srgbClr val="5F6368"/>
                </a:solidFill>
              </a:rPr>
              <a:t>Seller Performance &amp; Delivery Delays Over Time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Quarterly Order Volume by Seller Performance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Seller Distribution across Delivery Delay Tiers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Trailing 6 Months Late Delivery Rate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Q1.4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Dynamic Rank of Seller Delivery Delay Risk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2: </a:t>
            </a:r>
            <a:r>
              <a:rPr b="1" lang="pl-PL">
                <a:solidFill>
                  <a:srgbClr val="5F6368"/>
                </a:solidFill>
              </a:rPr>
              <a:t>Product Category Profitability &amp; Price Sensitivity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Category Portfolio: Revenue, Volume and Price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r>
              <a:rPr lang="pl-PL" sz="1200">
                <a:solidFill>
                  <a:schemeClr val="dk1"/>
                </a:solidFill>
              </a:rPr>
              <a:t> Global and Internal Revenue Share by Price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b="1" lang="pl-PL">
                <a:solidFill>
                  <a:srgbClr val="5F6368"/>
                </a:solidFill>
              </a:rPr>
              <a:t>Geographic Impact on Delivery Performance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Median Delivery Time by Geographical State</a:t>
            </a:r>
            <a:br>
              <a:rPr lang="pl-PL" sz="1200">
                <a:solidFill>
                  <a:schemeClr val="dk1"/>
                </a:solidFill>
              </a:rPr>
            </a:b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Delivery Reliability by Geographical State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r>
              <a:rPr lang="pl-PL" sz="1200">
                <a:solidFill>
                  <a:schemeClr val="dk1"/>
                </a:solidFill>
              </a:rPr>
              <a:t> Revenue at Risk Due to Late Deliveries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pl-PL">
                <a:solidFill>
                  <a:srgbClr val="5F6368"/>
                </a:solidFill>
              </a:rPr>
              <a:t>Q4: Market Growth Trajectory &amp; Revenue Momentum</a:t>
            </a:r>
            <a:endParaRPr b="1">
              <a:solidFill>
                <a:srgbClr val="5F6368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pl-PL" sz="1200">
                <a:solidFill>
                  <a:srgbClr val="859289"/>
                </a:solidFill>
              </a:rPr>
              <a:t>Q4.1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Monthly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Q4.2</a:t>
            </a:r>
            <a:r>
              <a:rPr lang="pl-PL" sz="1200">
                <a:solidFill>
                  <a:schemeClr val="dk1"/>
                </a:solidFill>
              </a:rPr>
              <a:t> MoM Growth Rate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Q4.3</a:t>
            </a:r>
            <a:r>
              <a:rPr lang="pl-PL" sz="1200">
                <a:solidFill>
                  <a:schemeClr val="dk1"/>
                </a:solidFill>
              </a:rPr>
              <a:t> Trailing 3 Month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200">
                <a:solidFill>
                  <a:srgbClr val="188038"/>
                </a:solidFill>
              </a:rPr>
              <a:t>Language:</a:t>
            </a:r>
            <a:r>
              <a:rPr lang="pl-PL" sz="1200">
                <a:solidFill>
                  <a:schemeClr val="dk1"/>
                </a:solidFill>
              </a:rPr>
              <a:t> Python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i="1" lang="pl-PL" sz="1200">
                <a:solidFill>
                  <a:schemeClr val="dk1"/>
                </a:solidFill>
              </a:rPr>
              <a:t>pandas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Jupyter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Notebook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 sz="1200">
                <a:solidFill>
                  <a:srgbClr val="188038"/>
                </a:solidFill>
              </a:rPr>
              <a:t>Code:</a:t>
            </a:r>
            <a:r>
              <a:rPr lang="pl-PL" sz="1200">
                <a:solidFill>
                  <a:schemeClr val="dk1"/>
                </a:solidFill>
              </a:rPr>
              <a:t> </a:t>
            </a:r>
            <a:r>
              <a:rPr i="1" lang="pl-PL" sz="1200">
                <a:solidFill>
                  <a:schemeClr val="dk1"/>
                </a:solidFill>
              </a:rPr>
              <a:t>ecommerce_analysis.ipynb</a:t>
            </a:r>
            <a:endParaRPr i="1" sz="1200"/>
          </a:p>
        </p:txBody>
      </p:sp>
      <p:sp>
        <p:nvSpPr>
          <p:cNvPr id="228" name="Google Shape;228;g3d2a6c2236b_0_73"/>
          <p:cNvSpPr/>
          <p:nvPr/>
        </p:nvSpPr>
        <p:spPr>
          <a:xfrm>
            <a:off x="7099125" y="1375325"/>
            <a:ext cx="4667400" cy="263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d2a6c2236b_0_73"/>
          <p:cNvSpPr/>
          <p:nvPr/>
        </p:nvSpPr>
        <p:spPr>
          <a:xfrm>
            <a:off x="7099125" y="1862562"/>
            <a:ext cx="4667400" cy="34836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3d2a6c2236b_0_73" title="Fig1.2.1 Volume of Sellers by Delivery Delay Risk Ti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90038"/>
            <a:ext cx="4887413" cy="4192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2a6c2236b_0_87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complex visualizations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d2a6c2236b_0_87"/>
          <p:cNvSpPr/>
          <p:nvPr/>
        </p:nvSpPr>
        <p:spPr>
          <a:xfrm>
            <a:off x="425250" y="677500"/>
            <a:ext cx="66024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d2a6c2236b_0_87"/>
          <p:cNvSpPr/>
          <p:nvPr/>
        </p:nvSpPr>
        <p:spPr>
          <a:xfrm>
            <a:off x="7099425" y="677500"/>
            <a:ext cx="4667400" cy="120300"/>
          </a:xfrm>
          <a:prstGeom prst="rect">
            <a:avLst/>
          </a:prstGeom>
          <a:solidFill>
            <a:srgbClr val="516462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d2a6c2236b_0_87"/>
          <p:cNvSpPr txBox="1"/>
          <p:nvPr/>
        </p:nvSpPr>
        <p:spPr>
          <a:xfrm>
            <a:off x="7099425" y="1066925"/>
            <a:ext cx="46671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pl-PL">
                <a:solidFill>
                  <a:srgbClr val="5F6368"/>
                </a:solidFill>
              </a:rPr>
              <a:t>Seller Performance &amp; Delivery Delays Over Time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Quarterly Order Volume by Seller Performance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Seller Distribution across Delivery Delay Tiers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Trailing 6 Months Late Delivery Rate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Q1.4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Dynamic Rank of Seller Delivery Delay Risk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2: </a:t>
            </a:r>
            <a:r>
              <a:rPr b="1" lang="pl-PL">
                <a:solidFill>
                  <a:srgbClr val="5F6368"/>
                </a:solidFill>
              </a:rPr>
              <a:t>Product Category Profitability &amp; Price Sensitivity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Category Portfolio: Revenue, Volume and Price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r>
              <a:rPr lang="pl-PL" sz="1200">
                <a:solidFill>
                  <a:schemeClr val="dk1"/>
                </a:solidFill>
              </a:rPr>
              <a:t> Global and Internal Revenue Share by Price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b="1" lang="pl-PL">
                <a:solidFill>
                  <a:srgbClr val="5F6368"/>
                </a:solidFill>
              </a:rPr>
              <a:t>Geographic Impact on Delivery Performance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Median Delivery Time by Geographical State</a:t>
            </a:r>
            <a:br>
              <a:rPr lang="pl-PL" sz="1200">
                <a:solidFill>
                  <a:schemeClr val="dk1"/>
                </a:solidFill>
              </a:rPr>
            </a:b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Delivery Reliability by Geographical State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r>
              <a:rPr lang="pl-PL" sz="1200">
                <a:solidFill>
                  <a:schemeClr val="dk1"/>
                </a:solidFill>
              </a:rPr>
              <a:t> Revenue at Risk Due to Late Deliveries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pl-PL">
                <a:solidFill>
                  <a:srgbClr val="5F6368"/>
                </a:solidFill>
              </a:rPr>
              <a:t>Q4: Market Growth Trajectory &amp; Revenue Momentum</a:t>
            </a:r>
            <a:endParaRPr b="1">
              <a:solidFill>
                <a:srgbClr val="5F6368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pl-PL" sz="1200">
                <a:solidFill>
                  <a:srgbClr val="859289"/>
                </a:solidFill>
              </a:rPr>
              <a:t>Q4.1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Monthly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Q4.2</a:t>
            </a:r>
            <a:r>
              <a:rPr lang="pl-PL" sz="1200">
                <a:solidFill>
                  <a:schemeClr val="dk1"/>
                </a:solidFill>
              </a:rPr>
              <a:t> MoM Growth Rate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Q4.3</a:t>
            </a:r>
            <a:r>
              <a:rPr lang="pl-PL" sz="1200">
                <a:solidFill>
                  <a:schemeClr val="dk1"/>
                </a:solidFill>
              </a:rPr>
              <a:t> Trailing 3 Month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200">
                <a:solidFill>
                  <a:srgbClr val="188038"/>
                </a:solidFill>
              </a:rPr>
              <a:t>Language:</a:t>
            </a:r>
            <a:r>
              <a:rPr lang="pl-PL" sz="1200">
                <a:solidFill>
                  <a:schemeClr val="dk1"/>
                </a:solidFill>
              </a:rPr>
              <a:t> Python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i="1" lang="pl-PL" sz="1200">
                <a:solidFill>
                  <a:schemeClr val="dk1"/>
                </a:solidFill>
              </a:rPr>
              <a:t>pandas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Jupyter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Notebook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 sz="1200">
                <a:solidFill>
                  <a:srgbClr val="188038"/>
                </a:solidFill>
              </a:rPr>
              <a:t>Code:</a:t>
            </a:r>
            <a:r>
              <a:rPr lang="pl-PL" sz="1200">
                <a:solidFill>
                  <a:schemeClr val="dk1"/>
                </a:solidFill>
              </a:rPr>
              <a:t> </a:t>
            </a:r>
            <a:r>
              <a:rPr i="1" lang="pl-PL" sz="1200">
                <a:solidFill>
                  <a:schemeClr val="dk1"/>
                </a:solidFill>
              </a:rPr>
              <a:t>ecommerce_analysis.ipynb</a:t>
            </a:r>
            <a:endParaRPr i="1" sz="1200"/>
          </a:p>
        </p:txBody>
      </p:sp>
      <p:sp>
        <p:nvSpPr>
          <p:cNvPr id="239" name="Google Shape;239;g3d2a6c2236b_0_87"/>
          <p:cNvSpPr/>
          <p:nvPr/>
        </p:nvSpPr>
        <p:spPr>
          <a:xfrm>
            <a:off x="7099125" y="1066925"/>
            <a:ext cx="4667400" cy="12618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d2a6c2236b_0_87"/>
          <p:cNvSpPr/>
          <p:nvPr/>
        </p:nvSpPr>
        <p:spPr>
          <a:xfrm>
            <a:off x="7099125" y="2940704"/>
            <a:ext cx="4667400" cy="24054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g3d2a6c2236b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75" y="878450"/>
            <a:ext cx="6479049" cy="412223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d2a6c2236b_0_87"/>
          <p:cNvSpPr txBox="1"/>
          <p:nvPr/>
        </p:nvSpPr>
        <p:spPr>
          <a:xfrm>
            <a:off x="520372" y="5294883"/>
            <a:ext cx="557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Using a regression-based anomaly detection, I identify product categories that significantly outperform the market baseline. The code establishes a dynamic threshold to isolate positive outliers and incorporates an R2 coefficient to validate the model's fit.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2a6c2236b_0_101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complex visualizations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d2a6c2236b_0_101"/>
          <p:cNvSpPr/>
          <p:nvPr/>
        </p:nvSpPr>
        <p:spPr>
          <a:xfrm>
            <a:off x="425250" y="677500"/>
            <a:ext cx="66024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d2a6c2236b_0_101"/>
          <p:cNvSpPr/>
          <p:nvPr/>
        </p:nvSpPr>
        <p:spPr>
          <a:xfrm>
            <a:off x="7099425" y="677500"/>
            <a:ext cx="4667400" cy="120300"/>
          </a:xfrm>
          <a:prstGeom prst="rect">
            <a:avLst/>
          </a:prstGeom>
          <a:solidFill>
            <a:srgbClr val="516462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d2a6c2236b_0_101"/>
          <p:cNvSpPr txBox="1"/>
          <p:nvPr/>
        </p:nvSpPr>
        <p:spPr>
          <a:xfrm>
            <a:off x="7099425" y="1066925"/>
            <a:ext cx="46671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pl-PL">
                <a:solidFill>
                  <a:srgbClr val="5F6368"/>
                </a:solidFill>
              </a:rPr>
              <a:t>Seller Performance &amp; Delivery Delays Over Time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Quarterly Order Volume by Seller Performance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Seller Distribution across Delivery Delay Tiers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Trailing 6 Months Late Delivery Rate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Q1.4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Dynamic Rank of Seller Delivery Delay Risk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2: </a:t>
            </a:r>
            <a:r>
              <a:rPr b="1" lang="pl-PL">
                <a:solidFill>
                  <a:srgbClr val="5F6368"/>
                </a:solidFill>
              </a:rPr>
              <a:t>Product Category Profitability &amp; Price Sensitivity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Category Portfolio: Revenue, Volume and Price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r>
              <a:rPr lang="pl-PL" sz="1200">
                <a:solidFill>
                  <a:schemeClr val="dk1"/>
                </a:solidFill>
              </a:rPr>
              <a:t> Global and Internal Revenue Share by Price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b="1" lang="pl-PL">
                <a:solidFill>
                  <a:srgbClr val="5F6368"/>
                </a:solidFill>
              </a:rPr>
              <a:t>Geographic Impact on Delivery Performance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Median Delivery Time by Geographical State</a:t>
            </a:r>
            <a:br>
              <a:rPr lang="pl-PL" sz="1200">
                <a:solidFill>
                  <a:schemeClr val="dk1"/>
                </a:solidFill>
              </a:rPr>
            </a:b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Delivery Reliability by Geographical State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r>
              <a:rPr lang="pl-PL" sz="1200">
                <a:solidFill>
                  <a:schemeClr val="dk1"/>
                </a:solidFill>
              </a:rPr>
              <a:t> Revenue at Risk Due to Late Deliveries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pl-PL">
                <a:solidFill>
                  <a:srgbClr val="5F6368"/>
                </a:solidFill>
              </a:rPr>
              <a:t>Q4: Market Growth Trajectory &amp; Revenue Momentum</a:t>
            </a:r>
            <a:endParaRPr b="1">
              <a:solidFill>
                <a:srgbClr val="5F6368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pl-PL" sz="1200">
                <a:solidFill>
                  <a:srgbClr val="859289"/>
                </a:solidFill>
              </a:rPr>
              <a:t>Q4.1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Monthly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Q4.2</a:t>
            </a:r>
            <a:r>
              <a:rPr lang="pl-PL" sz="1200">
                <a:solidFill>
                  <a:schemeClr val="dk1"/>
                </a:solidFill>
              </a:rPr>
              <a:t> MoM Growth Rate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Q4.3</a:t>
            </a:r>
            <a:r>
              <a:rPr lang="pl-PL" sz="1200">
                <a:solidFill>
                  <a:schemeClr val="dk1"/>
                </a:solidFill>
              </a:rPr>
              <a:t> Trailing 3 Month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200">
                <a:solidFill>
                  <a:srgbClr val="188038"/>
                </a:solidFill>
              </a:rPr>
              <a:t>Language:</a:t>
            </a:r>
            <a:r>
              <a:rPr lang="pl-PL" sz="1200">
                <a:solidFill>
                  <a:schemeClr val="dk1"/>
                </a:solidFill>
              </a:rPr>
              <a:t> Python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i="1" lang="pl-PL" sz="1200">
                <a:solidFill>
                  <a:schemeClr val="dk1"/>
                </a:solidFill>
              </a:rPr>
              <a:t>pandas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Jupyter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Notebook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 sz="1200">
                <a:solidFill>
                  <a:srgbClr val="188038"/>
                </a:solidFill>
              </a:rPr>
              <a:t>Code:</a:t>
            </a:r>
            <a:r>
              <a:rPr lang="pl-PL" sz="1200">
                <a:solidFill>
                  <a:schemeClr val="dk1"/>
                </a:solidFill>
              </a:rPr>
              <a:t> </a:t>
            </a:r>
            <a:r>
              <a:rPr i="1" lang="pl-PL" sz="1200">
                <a:solidFill>
                  <a:schemeClr val="dk1"/>
                </a:solidFill>
              </a:rPr>
              <a:t>ecommerce_analysis.ipynb</a:t>
            </a:r>
            <a:endParaRPr i="1" sz="1200"/>
          </a:p>
        </p:txBody>
      </p:sp>
      <p:sp>
        <p:nvSpPr>
          <p:cNvPr id="251" name="Google Shape;251;g3d2a6c2236b_0_101"/>
          <p:cNvSpPr/>
          <p:nvPr/>
        </p:nvSpPr>
        <p:spPr>
          <a:xfrm>
            <a:off x="7099125" y="1066925"/>
            <a:ext cx="4667400" cy="12618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d2a6c2236b_0_101"/>
          <p:cNvSpPr/>
          <p:nvPr/>
        </p:nvSpPr>
        <p:spPr>
          <a:xfrm>
            <a:off x="7099125" y="2940704"/>
            <a:ext cx="4667400" cy="24054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g3d2a6c2236b_0_101" title="Fig2.1.3 Identification of High-Yield Product Categor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90038"/>
            <a:ext cx="4212426" cy="419228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d2a6c2236b_0_101"/>
          <p:cNvSpPr txBox="1"/>
          <p:nvPr/>
        </p:nvSpPr>
        <p:spPr>
          <a:xfrm>
            <a:off x="520372" y="5294883"/>
            <a:ext cx="5575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-PL" sz="1600">
                <a:solidFill>
                  <a:srgbClr val="C89140"/>
                </a:solidFill>
              </a:rPr>
              <a:t>Business Insight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l-PL">
                <a:solidFill>
                  <a:schemeClr val="dk1"/>
                </a:solidFill>
              </a:rPr>
              <a:t>The Watches_Gifts is the standout performer - it produces nearly as much revenue as Health_Beauty but requires significantly less logistical throughput. This category represents the ideal balance of high margin and manageable volume.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2a6c2236b_0_115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window functions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d2a6c2236b_0_115"/>
          <p:cNvSpPr/>
          <p:nvPr/>
        </p:nvSpPr>
        <p:spPr>
          <a:xfrm>
            <a:off x="425250" y="677500"/>
            <a:ext cx="66024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d2a6c2236b_0_115"/>
          <p:cNvSpPr/>
          <p:nvPr/>
        </p:nvSpPr>
        <p:spPr>
          <a:xfrm>
            <a:off x="7099425" y="677500"/>
            <a:ext cx="4667400" cy="120300"/>
          </a:xfrm>
          <a:prstGeom prst="rect">
            <a:avLst/>
          </a:prstGeom>
          <a:solidFill>
            <a:srgbClr val="516462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d2a6c2236b_0_115"/>
          <p:cNvSpPr txBox="1"/>
          <p:nvPr/>
        </p:nvSpPr>
        <p:spPr>
          <a:xfrm>
            <a:off x="7099425" y="1066925"/>
            <a:ext cx="46671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pl-PL">
                <a:solidFill>
                  <a:srgbClr val="5F6368"/>
                </a:solidFill>
              </a:rPr>
              <a:t>Seller Performance &amp; Delivery Delays Over Time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Quarterly Order Volume by Seller Performance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Seller Distribution across Delivery Delay Tiers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Trailing 6 Months Late Delivery Rate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Q1.4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Dynamic Rank of Seller Delivery Delay Risk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2: </a:t>
            </a:r>
            <a:r>
              <a:rPr b="1" lang="pl-PL">
                <a:solidFill>
                  <a:srgbClr val="5F6368"/>
                </a:solidFill>
              </a:rPr>
              <a:t>Product Category Profitability &amp; Price Sensitivity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Category Portfolio: Revenue, Volume and Price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r>
              <a:rPr lang="pl-PL" sz="1200">
                <a:solidFill>
                  <a:schemeClr val="dk1"/>
                </a:solidFill>
              </a:rPr>
              <a:t> Global and Internal Revenue Share by Price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b="1" lang="pl-PL">
                <a:solidFill>
                  <a:srgbClr val="5F6368"/>
                </a:solidFill>
              </a:rPr>
              <a:t>Geographic Impact on Delivery Performance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Median Delivery Time by Geographical State</a:t>
            </a:r>
            <a:br>
              <a:rPr lang="pl-PL" sz="1200">
                <a:solidFill>
                  <a:schemeClr val="dk1"/>
                </a:solidFill>
              </a:rPr>
            </a:b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Delivery Reliability by Geographical State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r>
              <a:rPr lang="pl-PL" sz="1200">
                <a:solidFill>
                  <a:schemeClr val="dk1"/>
                </a:solidFill>
              </a:rPr>
              <a:t> Revenue at Risk Due to Late Deliveries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pl-PL">
                <a:solidFill>
                  <a:srgbClr val="5F6368"/>
                </a:solidFill>
              </a:rPr>
              <a:t>Q4: Market Growth Trajectory &amp; Revenue Momentum</a:t>
            </a:r>
            <a:endParaRPr b="1">
              <a:solidFill>
                <a:srgbClr val="5F6368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pl-PL" sz="1200">
                <a:solidFill>
                  <a:srgbClr val="859289"/>
                </a:solidFill>
              </a:rPr>
              <a:t>Q4.1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Monthly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Q4.2</a:t>
            </a:r>
            <a:r>
              <a:rPr lang="pl-PL" sz="1200">
                <a:solidFill>
                  <a:schemeClr val="dk1"/>
                </a:solidFill>
              </a:rPr>
              <a:t> MoM Growth Rate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Q4.3</a:t>
            </a:r>
            <a:r>
              <a:rPr lang="pl-PL" sz="1200">
                <a:solidFill>
                  <a:schemeClr val="dk1"/>
                </a:solidFill>
              </a:rPr>
              <a:t> Trailing 3 Month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200">
                <a:solidFill>
                  <a:srgbClr val="188038"/>
                </a:solidFill>
              </a:rPr>
              <a:t>Language:</a:t>
            </a:r>
            <a:r>
              <a:rPr lang="pl-PL" sz="1200">
                <a:solidFill>
                  <a:schemeClr val="dk1"/>
                </a:solidFill>
              </a:rPr>
              <a:t> Python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i="1" lang="pl-PL" sz="1200">
                <a:solidFill>
                  <a:schemeClr val="dk1"/>
                </a:solidFill>
              </a:rPr>
              <a:t>pandas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Jupyter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Notebook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 sz="1200">
                <a:solidFill>
                  <a:srgbClr val="188038"/>
                </a:solidFill>
              </a:rPr>
              <a:t>Code:</a:t>
            </a:r>
            <a:r>
              <a:rPr lang="pl-PL" sz="1200">
                <a:solidFill>
                  <a:schemeClr val="dk1"/>
                </a:solidFill>
              </a:rPr>
              <a:t> </a:t>
            </a:r>
            <a:r>
              <a:rPr i="1" lang="pl-PL" sz="1200">
                <a:solidFill>
                  <a:schemeClr val="dk1"/>
                </a:solidFill>
              </a:rPr>
              <a:t>ecommerce_analysis.ipynb</a:t>
            </a:r>
            <a:endParaRPr i="1" sz="1200"/>
          </a:p>
        </p:txBody>
      </p:sp>
      <p:sp>
        <p:nvSpPr>
          <p:cNvPr id="263" name="Google Shape;263;g3d2a6c2236b_0_115"/>
          <p:cNvSpPr/>
          <p:nvPr/>
        </p:nvSpPr>
        <p:spPr>
          <a:xfrm>
            <a:off x="7099125" y="1066925"/>
            <a:ext cx="4667400" cy="12618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d2a6c2236b_0_115"/>
          <p:cNvSpPr/>
          <p:nvPr/>
        </p:nvSpPr>
        <p:spPr>
          <a:xfrm>
            <a:off x="7099125" y="3138175"/>
            <a:ext cx="4667400" cy="22080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d2a6c2236b_0_115"/>
          <p:cNvSpPr/>
          <p:nvPr/>
        </p:nvSpPr>
        <p:spPr>
          <a:xfrm>
            <a:off x="7099425" y="2725075"/>
            <a:ext cx="4667400" cy="197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d2a6c2236b_0_115"/>
          <p:cNvSpPr txBox="1"/>
          <p:nvPr/>
        </p:nvSpPr>
        <p:spPr>
          <a:xfrm>
            <a:off x="520372" y="5294883"/>
            <a:ext cx="557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In this CTE, I use window function to isolate the top five revenue-generating categories from the </a:t>
            </a:r>
            <a:r>
              <a:rPr i="1" lang="pl-PL">
                <a:solidFill>
                  <a:schemeClr val="dk1"/>
                </a:solidFill>
              </a:rPr>
              <a:t>market’s </a:t>
            </a:r>
            <a:r>
              <a:rPr i="1" lang="pl-PL">
                <a:solidFill>
                  <a:schemeClr val="dk1"/>
                </a:solidFill>
              </a:rPr>
              <a:t>residual (</a:t>
            </a:r>
            <a:r>
              <a:rPr i="1" lang="pl-PL">
                <a:solidFill>
                  <a:srgbClr val="188038"/>
                </a:solidFill>
              </a:rPr>
              <a:t>other</a:t>
            </a:r>
            <a:r>
              <a:rPr i="1" lang="pl-PL">
                <a:solidFill>
                  <a:schemeClr val="dk1"/>
                </a:solidFill>
              </a:rPr>
              <a:t>). Then I calculate their share in </a:t>
            </a:r>
            <a:r>
              <a:rPr i="1" lang="pl-PL">
                <a:solidFill>
                  <a:schemeClr val="dk1"/>
                </a:solidFill>
              </a:rPr>
              <a:t>combined platform’s </a:t>
            </a:r>
            <a:r>
              <a:rPr i="1" lang="pl-PL">
                <a:solidFill>
                  <a:schemeClr val="dk1"/>
                </a:solidFill>
              </a:rPr>
              <a:t>revenue (</a:t>
            </a:r>
            <a:r>
              <a:rPr i="1" lang="pl-PL">
                <a:solidFill>
                  <a:srgbClr val="188038"/>
                </a:solidFill>
              </a:rPr>
              <a:t>perc_in_revenue</a:t>
            </a:r>
            <a:r>
              <a:rPr i="1" lang="pl-PL">
                <a:solidFill>
                  <a:schemeClr val="dk1"/>
                </a:solidFill>
              </a:rPr>
              <a:t>).</a:t>
            </a:r>
            <a:endParaRPr sz="1200"/>
          </a:p>
        </p:txBody>
      </p:sp>
      <p:pic>
        <p:nvPicPr>
          <p:cNvPr id="267" name="Google Shape;267;g3d2a6c2236b_0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78450"/>
            <a:ext cx="6485676" cy="348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2a6c2236b_0_130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window functions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d2a6c2236b_0_130"/>
          <p:cNvSpPr/>
          <p:nvPr/>
        </p:nvSpPr>
        <p:spPr>
          <a:xfrm>
            <a:off x="425250" y="677500"/>
            <a:ext cx="66024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d2a6c2236b_0_130"/>
          <p:cNvSpPr/>
          <p:nvPr/>
        </p:nvSpPr>
        <p:spPr>
          <a:xfrm>
            <a:off x="7099425" y="677500"/>
            <a:ext cx="4667400" cy="120300"/>
          </a:xfrm>
          <a:prstGeom prst="rect">
            <a:avLst/>
          </a:prstGeom>
          <a:solidFill>
            <a:srgbClr val="516462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d2a6c2236b_0_130"/>
          <p:cNvSpPr txBox="1"/>
          <p:nvPr/>
        </p:nvSpPr>
        <p:spPr>
          <a:xfrm>
            <a:off x="7099425" y="1066925"/>
            <a:ext cx="46671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pl-PL">
                <a:solidFill>
                  <a:srgbClr val="5F6368"/>
                </a:solidFill>
              </a:rPr>
              <a:t>Seller Performance &amp; Delivery Delays Over Time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Quarterly Order Volume by Seller Performance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Seller Distribution across Delivery Delay Tiers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Trailing 6 Months Late Delivery Rate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Q1.4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Dynamic Rank of Seller Delivery Delay Risk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2: </a:t>
            </a:r>
            <a:r>
              <a:rPr b="1" lang="pl-PL">
                <a:solidFill>
                  <a:srgbClr val="5F6368"/>
                </a:solidFill>
              </a:rPr>
              <a:t>Product Category Profitability &amp; Price Sensitivity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Category Portfolio: Revenue, Volume and Price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r>
              <a:rPr lang="pl-PL" sz="1200">
                <a:solidFill>
                  <a:schemeClr val="dk1"/>
                </a:solidFill>
              </a:rPr>
              <a:t> Global and Internal Revenue Share by Price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b="1" lang="pl-PL">
                <a:solidFill>
                  <a:srgbClr val="5F6368"/>
                </a:solidFill>
              </a:rPr>
              <a:t>Geographic Impact on Delivery Performance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Median Delivery Time by Geographical State</a:t>
            </a:r>
            <a:br>
              <a:rPr lang="pl-PL" sz="1200">
                <a:solidFill>
                  <a:schemeClr val="dk1"/>
                </a:solidFill>
              </a:rPr>
            </a:b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Delivery Reliability by Geographical State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r>
              <a:rPr lang="pl-PL" sz="1200">
                <a:solidFill>
                  <a:schemeClr val="dk1"/>
                </a:solidFill>
              </a:rPr>
              <a:t> Revenue at Risk Due to Late Deliveries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pl-PL">
                <a:solidFill>
                  <a:srgbClr val="5F6368"/>
                </a:solidFill>
              </a:rPr>
              <a:t>Q4: Market Growth Trajectory &amp; Revenue Momentum</a:t>
            </a:r>
            <a:endParaRPr b="1">
              <a:solidFill>
                <a:srgbClr val="5F6368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pl-PL" sz="1200">
                <a:solidFill>
                  <a:srgbClr val="859289"/>
                </a:solidFill>
              </a:rPr>
              <a:t>Q4.1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Monthly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Q4.2</a:t>
            </a:r>
            <a:r>
              <a:rPr lang="pl-PL" sz="1200">
                <a:solidFill>
                  <a:schemeClr val="dk1"/>
                </a:solidFill>
              </a:rPr>
              <a:t> MoM Growth Rate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Q4.3</a:t>
            </a:r>
            <a:r>
              <a:rPr lang="pl-PL" sz="1200">
                <a:solidFill>
                  <a:schemeClr val="dk1"/>
                </a:solidFill>
              </a:rPr>
              <a:t> Trailing 3 Month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200">
                <a:solidFill>
                  <a:srgbClr val="188038"/>
                </a:solidFill>
              </a:rPr>
              <a:t>Language:</a:t>
            </a:r>
            <a:r>
              <a:rPr lang="pl-PL" sz="1200">
                <a:solidFill>
                  <a:schemeClr val="dk1"/>
                </a:solidFill>
              </a:rPr>
              <a:t> Python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i="1" lang="pl-PL" sz="1200">
                <a:solidFill>
                  <a:schemeClr val="dk1"/>
                </a:solidFill>
              </a:rPr>
              <a:t>pandas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Jupyter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Notebook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 sz="1200">
                <a:solidFill>
                  <a:srgbClr val="188038"/>
                </a:solidFill>
              </a:rPr>
              <a:t>Code:</a:t>
            </a:r>
            <a:r>
              <a:rPr lang="pl-PL" sz="1200">
                <a:solidFill>
                  <a:schemeClr val="dk1"/>
                </a:solidFill>
              </a:rPr>
              <a:t> </a:t>
            </a:r>
            <a:r>
              <a:rPr i="1" lang="pl-PL" sz="1200">
                <a:solidFill>
                  <a:schemeClr val="dk1"/>
                </a:solidFill>
              </a:rPr>
              <a:t>ecommerce_analysis.ipynb</a:t>
            </a:r>
            <a:endParaRPr i="1" sz="1200"/>
          </a:p>
        </p:txBody>
      </p:sp>
      <p:sp>
        <p:nvSpPr>
          <p:cNvPr id="276" name="Google Shape;276;g3d2a6c2236b_0_130"/>
          <p:cNvSpPr/>
          <p:nvPr/>
        </p:nvSpPr>
        <p:spPr>
          <a:xfrm>
            <a:off x="7099125" y="1066925"/>
            <a:ext cx="4667400" cy="12618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d2a6c2236b_0_130"/>
          <p:cNvSpPr/>
          <p:nvPr/>
        </p:nvSpPr>
        <p:spPr>
          <a:xfrm>
            <a:off x="7099125" y="3138175"/>
            <a:ext cx="4667400" cy="22080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d2a6c2236b_0_130"/>
          <p:cNvSpPr/>
          <p:nvPr/>
        </p:nvSpPr>
        <p:spPr>
          <a:xfrm>
            <a:off x="7099425" y="2725075"/>
            <a:ext cx="4667400" cy="197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d2a6c2236b_0_130"/>
          <p:cNvSpPr txBox="1"/>
          <p:nvPr/>
        </p:nvSpPr>
        <p:spPr>
          <a:xfrm>
            <a:off x="520372" y="5294883"/>
            <a:ext cx="5575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-PL" sz="1600">
                <a:solidFill>
                  <a:srgbClr val="C89140"/>
                </a:solidFill>
              </a:rPr>
              <a:t>Business Insight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l-PL">
                <a:solidFill>
                  <a:schemeClr val="dk1"/>
                </a:solidFill>
              </a:rPr>
              <a:t>The high revenue-to-volume ratio of Watches_Gifts suggests that marketing spend in this category is highly efficient, yielding more dollars per unit shipped than any other top category.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pic>
        <p:nvPicPr>
          <p:cNvPr id="280" name="Google Shape;280;g3d2a6c2236b_0_130" title="Fig2.1.4 Revenue Contribution by Category.png"/>
          <p:cNvPicPr preferRelativeResize="0"/>
          <p:nvPr/>
        </p:nvPicPr>
        <p:blipFill rotWithShape="1">
          <a:blip r:embed="rId3">
            <a:alphaModFix/>
          </a:blip>
          <a:srcRect b="7261" l="0" r="0" t="0"/>
          <a:stretch/>
        </p:blipFill>
        <p:spPr>
          <a:xfrm>
            <a:off x="3224084" y="865980"/>
            <a:ext cx="3692738" cy="2909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d2a6c2236b_0_130" title="Fig2.1.5 Sales Volume Contribution by Category.png"/>
          <p:cNvPicPr preferRelativeResize="0"/>
          <p:nvPr/>
        </p:nvPicPr>
        <p:blipFill rotWithShape="1">
          <a:blip r:embed="rId4">
            <a:alphaModFix/>
          </a:blip>
          <a:srcRect b="7749" l="8484" r="0" t="0"/>
          <a:stretch/>
        </p:blipFill>
        <p:spPr>
          <a:xfrm>
            <a:off x="501735" y="1968800"/>
            <a:ext cx="3536700" cy="3044700"/>
          </a:xfrm>
          <a:prstGeom prst="snip2SameRect">
            <a:avLst>
              <a:gd fmla="val 30958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282" name="Google Shape;282;g3d2a6c2236b_0_130" title="Fig2.1.5 Sales Volume Contribution by Category.png"/>
          <p:cNvPicPr preferRelativeResize="0"/>
          <p:nvPr/>
        </p:nvPicPr>
        <p:blipFill rotWithShape="1">
          <a:blip r:embed="rId4">
            <a:alphaModFix/>
          </a:blip>
          <a:srcRect b="72072" l="2039" r="69279" t="24283"/>
          <a:stretch/>
        </p:blipFill>
        <p:spPr>
          <a:xfrm>
            <a:off x="344471" y="2772750"/>
            <a:ext cx="1108200" cy="1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2a6c2236b_0_153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complex visualizations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d2a6c2236b_0_153"/>
          <p:cNvSpPr/>
          <p:nvPr/>
        </p:nvSpPr>
        <p:spPr>
          <a:xfrm>
            <a:off x="425250" y="677500"/>
            <a:ext cx="66024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d2a6c2236b_0_153"/>
          <p:cNvSpPr/>
          <p:nvPr/>
        </p:nvSpPr>
        <p:spPr>
          <a:xfrm>
            <a:off x="7099425" y="677500"/>
            <a:ext cx="4667400" cy="120300"/>
          </a:xfrm>
          <a:prstGeom prst="rect">
            <a:avLst/>
          </a:prstGeom>
          <a:solidFill>
            <a:srgbClr val="516462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d2a6c2236b_0_153"/>
          <p:cNvSpPr txBox="1"/>
          <p:nvPr/>
        </p:nvSpPr>
        <p:spPr>
          <a:xfrm>
            <a:off x="7099425" y="1066925"/>
            <a:ext cx="46671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pl-PL">
                <a:solidFill>
                  <a:srgbClr val="5F6368"/>
                </a:solidFill>
              </a:rPr>
              <a:t>Seller Performance &amp; Delivery Delays Over Time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Quarterly Order Volume by Seller Performance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Seller Distribution across Delivery Delay Tiers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Trailing 6 Months Late Delivery Rate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Q1.4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Dynamic Rank of Seller Delivery Delay Risk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2: </a:t>
            </a:r>
            <a:r>
              <a:rPr b="1" lang="pl-PL">
                <a:solidFill>
                  <a:srgbClr val="5F6368"/>
                </a:solidFill>
              </a:rPr>
              <a:t>Product Category Profitability &amp; Price Sensitivity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Category Portfolio: Revenue, Volume and Price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r>
              <a:rPr lang="pl-PL" sz="1200">
                <a:solidFill>
                  <a:schemeClr val="dk1"/>
                </a:solidFill>
              </a:rPr>
              <a:t> Global and Internal Revenue Share by Price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b="1" lang="pl-PL">
                <a:solidFill>
                  <a:srgbClr val="5F6368"/>
                </a:solidFill>
              </a:rPr>
              <a:t>Geographic Impact on Delivery Performance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Median Delivery Time by Geographical State</a:t>
            </a:r>
            <a:br>
              <a:rPr lang="pl-PL" sz="1200">
                <a:solidFill>
                  <a:schemeClr val="dk1"/>
                </a:solidFill>
              </a:rPr>
            </a:b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Delivery Reliability by Geographical State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r>
              <a:rPr lang="pl-PL" sz="1200">
                <a:solidFill>
                  <a:schemeClr val="dk1"/>
                </a:solidFill>
              </a:rPr>
              <a:t> Revenue at Risk Due to Late Deliveries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pl-PL">
                <a:solidFill>
                  <a:srgbClr val="5F6368"/>
                </a:solidFill>
              </a:rPr>
              <a:t>Q4: Market Growth Trajectory &amp; Revenue Momentum</a:t>
            </a:r>
            <a:endParaRPr b="1">
              <a:solidFill>
                <a:srgbClr val="5F6368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pl-PL" sz="1200">
                <a:solidFill>
                  <a:srgbClr val="859289"/>
                </a:solidFill>
              </a:rPr>
              <a:t>Q4.1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Monthly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Q4.2</a:t>
            </a:r>
            <a:r>
              <a:rPr lang="pl-PL" sz="1200">
                <a:solidFill>
                  <a:schemeClr val="dk1"/>
                </a:solidFill>
              </a:rPr>
              <a:t> MoM Growth Rate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Q4.3</a:t>
            </a:r>
            <a:r>
              <a:rPr lang="pl-PL" sz="1200">
                <a:solidFill>
                  <a:schemeClr val="dk1"/>
                </a:solidFill>
              </a:rPr>
              <a:t> Trailing 3 Month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200">
                <a:solidFill>
                  <a:srgbClr val="188038"/>
                </a:solidFill>
              </a:rPr>
              <a:t>Language:</a:t>
            </a:r>
            <a:r>
              <a:rPr lang="pl-PL" sz="1200">
                <a:solidFill>
                  <a:schemeClr val="dk1"/>
                </a:solidFill>
              </a:rPr>
              <a:t> Python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i="1" lang="pl-PL" sz="1200">
                <a:solidFill>
                  <a:schemeClr val="dk1"/>
                </a:solidFill>
              </a:rPr>
              <a:t>pandas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Jupyter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Notebook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 sz="1200">
                <a:solidFill>
                  <a:srgbClr val="188038"/>
                </a:solidFill>
              </a:rPr>
              <a:t>Code:</a:t>
            </a:r>
            <a:r>
              <a:rPr lang="pl-PL" sz="1200">
                <a:solidFill>
                  <a:schemeClr val="dk1"/>
                </a:solidFill>
              </a:rPr>
              <a:t> </a:t>
            </a:r>
            <a:r>
              <a:rPr i="1" lang="pl-PL" sz="1200">
                <a:solidFill>
                  <a:schemeClr val="dk1"/>
                </a:solidFill>
              </a:rPr>
              <a:t>ecommerce_analysis.ipynb</a:t>
            </a:r>
            <a:endParaRPr i="1" sz="1200"/>
          </a:p>
        </p:txBody>
      </p:sp>
      <p:sp>
        <p:nvSpPr>
          <p:cNvPr id="291" name="Google Shape;291;g3d2a6c2236b_0_153"/>
          <p:cNvSpPr/>
          <p:nvPr/>
        </p:nvSpPr>
        <p:spPr>
          <a:xfrm>
            <a:off x="7099125" y="1066925"/>
            <a:ext cx="4667400" cy="22059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d2a6c2236b_0_153"/>
          <p:cNvSpPr/>
          <p:nvPr/>
        </p:nvSpPr>
        <p:spPr>
          <a:xfrm>
            <a:off x="7099125" y="3775225"/>
            <a:ext cx="4667400" cy="15711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d2a6c2236b_0_153"/>
          <p:cNvSpPr txBox="1"/>
          <p:nvPr/>
        </p:nvSpPr>
        <p:spPr>
          <a:xfrm>
            <a:off x="520375" y="5294878"/>
            <a:ext cx="557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-PL" sz="1600">
                <a:solidFill>
                  <a:srgbClr val="C89140"/>
                </a:solidFill>
              </a:rPr>
              <a:t>Business Insight</a:t>
            </a:r>
            <a:endParaRPr b="1" i="1" sz="1600">
              <a:solidFill>
                <a:srgbClr val="C89140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l-PL">
                <a:solidFill>
                  <a:schemeClr val="dk1"/>
                </a:solidFill>
              </a:rPr>
              <a:t>The platform should adjust the delivery time estimate to specific regions: for an AM, the delivery time estimate needs to be significantly extended, while for a GO, it could be shortened to drive competitiveness.</a:t>
            </a:r>
            <a:endParaRPr i="1">
              <a:solidFill>
                <a:schemeClr val="dk1"/>
              </a:solidFill>
            </a:endParaRPr>
          </a:p>
        </p:txBody>
      </p:sp>
      <p:pic>
        <p:nvPicPr>
          <p:cNvPr id="294" name="Google Shape;294;g3d2a6c2236b_0_153" title="Fig3.1.2 Ranking of States by Delivery Spe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78450"/>
            <a:ext cx="6485673" cy="3657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2a6c2236b_0_169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rolling measures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d2a6c2236b_0_169"/>
          <p:cNvSpPr/>
          <p:nvPr/>
        </p:nvSpPr>
        <p:spPr>
          <a:xfrm>
            <a:off x="425250" y="677500"/>
            <a:ext cx="66024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d2a6c2236b_0_169"/>
          <p:cNvSpPr/>
          <p:nvPr/>
        </p:nvSpPr>
        <p:spPr>
          <a:xfrm>
            <a:off x="7099425" y="677500"/>
            <a:ext cx="4667400" cy="120300"/>
          </a:xfrm>
          <a:prstGeom prst="rect">
            <a:avLst/>
          </a:prstGeom>
          <a:solidFill>
            <a:srgbClr val="516462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d2a6c2236b_0_169"/>
          <p:cNvSpPr txBox="1"/>
          <p:nvPr/>
        </p:nvSpPr>
        <p:spPr>
          <a:xfrm>
            <a:off x="7099425" y="1066925"/>
            <a:ext cx="46671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pl-PL">
                <a:solidFill>
                  <a:srgbClr val="5F6368"/>
                </a:solidFill>
              </a:rPr>
              <a:t>Seller Performance &amp; Delivery Delays Over Time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Quarterly Order Volume by Seller Performance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Seller Distribution across Delivery Delay Tiers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Trailing 6 Months Late Delivery Rate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Q1.4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Dynamic Rank of Seller Delivery Delay Risk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2: </a:t>
            </a:r>
            <a:r>
              <a:rPr b="1" lang="pl-PL">
                <a:solidFill>
                  <a:srgbClr val="5F6368"/>
                </a:solidFill>
              </a:rPr>
              <a:t>Product Category Profitability &amp; Price Sensitivity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Category Portfolio: Revenue, Volume and Price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r>
              <a:rPr lang="pl-PL" sz="1200">
                <a:solidFill>
                  <a:schemeClr val="dk1"/>
                </a:solidFill>
              </a:rPr>
              <a:t> Global and Internal Revenue Share by Price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b="1" lang="pl-PL">
                <a:solidFill>
                  <a:srgbClr val="5F6368"/>
                </a:solidFill>
              </a:rPr>
              <a:t>Geographic Impact on Delivery Performance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Median Delivery Time by Geographical State</a:t>
            </a:r>
            <a:br>
              <a:rPr lang="pl-PL" sz="1200">
                <a:solidFill>
                  <a:schemeClr val="dk1"/>
                </a:solidFill>
              </a:rPr>
            </a:b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Delivery Reliability by Geographical State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r>
              <a:rPr lang="pl-PL" sz="1200">
                <a:solidFill>
                  <a:schemeClr val="dk1"/>
                </a:solidFill>
              </a:rPr>
              <a:t> Revenue at Risk Due to Late Deliveries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pl-PL">
                <a:solidFill>
                  <a:srgbClr val="5F6368"/>
                </a:solidFill>
              </a:rPr>
              <a:t>Q4: Market Growth Trajectory &amp; Revenue Momentum</a:t>
            </a:r>
            <a:endParaRPr b="1">
              <a:solidFill>
                <a:srgbClr val="5F6368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pl-PL" sz="1200">
                <a:solidFill>
                  <a:srgbClr val="859289"/>
                </a:solidFill>
              </a:rPr>
              <a:t>Q4.1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Monthly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Q4.2</a:t>
            </a:r>
            <a:r>
              <a:rPr lang="pl-PL" sz="1200">
                <a:solidFill>
                  <a:schemeClr val="dk1"/>
                </a:solidFill>
              </a:rPr>
              <a:t> MoM Growth Rate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Q4.3</a:t>
            </a:r>
            <a:r>
              <a:rPr lang="pl-PL" sz="1200">
                <a:solidFill>
                  <a:schemeClr val="dk1"/>
                </a:solidFill>
              </a:rPr>
              <a:t> Trailing 3 Month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200">
                <a:solidFill>
                  <a:srgbClr val="188038"/>
                </a:solidFill>
              </a:rPr>
              <a:t>Language:</a:t>
            </a:r>
            <a:r>
              <a:rPr lang="pl-PL" sz="1200">
                <a:solidFill>
                  <a:schemeClr val="dk1"/>
                </a:solidFill>
              </a:rPr>
              <a:t> Python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i="1" lang="pl-PL" sz="1200">
                <a:solidFill>
                  <a:schemeClr val="dk1"/>
                </a:solidFill>
              </a:rPr>
              <a:t>pandas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Jupyter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Notebook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 sz="1200">
                <a:solidFill>
                  <a:srgbClr val="188038"/>
                </a:solidFill>
              </a:rPr>
              <a:t>Code:</a:t>
            </a:r>
            <a:r>
              <a:rPr lang="pl-PL" sz="1200">
                <a:solidFill>
                  <a:schemeClr val="dk1"/>
                </a:solidFill>
              </a:rPr>
              <a:t> </a:t>
            </a:r>
            <a:r>
              <a:rPr i="1" lang="pl-PL" sz="1200">
                <a:solidFill>
                  <a:schemeClr val="dk1"/>
                </a:solidFill>
              </a:rPr>
              <a:t>ecommerce_analysis.ipynb</a:t>
            </a:r>
            <a:endParaRPr i="1" sz="1200"/>
          </a:p>
        </p:txBody>
      </p:sp>
      <p:sp>
        <p:nvSpPr>
          <p:cNvPr id="303" name="Google Shape;303;g3d2a6c2236b_0_169"/>
          <p:cNvSpPr/>
          <p:nvPr/>
        </p:nvSpPr>
        <p:spPr>
          <a:xfrm>
            <a:off x="7099125" y="1066925"/>
            <a:ext cx="4667400" cy="3296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d2a6c2236b_0_169"/>
          <p:cNvSpPr/>
          <p:nvPr/>
        </p:nvSpPr>
        <p:spPr>
          <a:xfrm>
            <a:off x="7099125" y="4637225"/>
            <a:ext cx="4667400" cy="4668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g3d2a6c2236b_0_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78450"/>
            <a:ext cx="6485675" cy="361522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d2a6c2236b_0_169"/>
          <p:cNvSpPr txBox="1"/>
          <p:nvPr/>
        </p:nvSpPr>
        <p:spPr>
          <a:xfrm>
            <a:off x="520372" y="5294883"/>
            <a:ext cx="557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U</a:t>
            </a:r>
            <a:r>
              <a:rPr i="1" lang="pl-PL">
                <a:solidFill>
                  <a:schemeClr val="dk1"/>
                </a:solidFill>
              </a:rPr>
              <a:t>sing window functions</a:t>
            </a:r>
            <a:r>
              <a:rPr i="1" lang="pl-PL">
                <a:solidFill>
                  <a:schemeClr val="dk1"/>
                </a:solidFill>
              </a:rPr>
              <a:t>, I implement a time-series smoothing and growth analysis to evaluate the platform's revenue momentum across different market segments. I also include Zero-Division Protection (</a:t>
            </a:r>
            <a:r>
              <a:rPr i="1" lang="pl-PL">
                <a:solidFill>
                  <a:srgbClr val="188038"/>
                </a:solidFill>
              </a:rPr>
              <a:t>NULIFF()</a:t>
            </a:r>
            <a:r>
              <a:rPr i="1" lang="pl-PL">
                <a:solidFill>
                  <a:schemeClr val="dk1"/>
                </a:solidFill>
              </a:rPr>
              <a:t>) in calculations.</a:t>
            </a:r>
            <a:endParaRPr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2a6c2236b_0_184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rolling measures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d2a6c2236b_0_184"/>
          <p:cNvSpPr/>
          <p:nvPr/>
        </p:nvSpPr>
        <p:spPr>
          <a:xfrm>
            <a:off x="425250" y="677500"/>
            <a:ext cx="66024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d2a6c2236b_0_184"/>
          <p:cNvSpPr/>
          <p:nvPr/>
        </p:nvSpPr>
        <p:spPr>
          <a:xfrm>
            <a:off x="7099425" y="677500"/>
            <a:ext cx="4667400" cy="120300"/>
          </a:xfrm>
          <a:prstGeom prst="rect">
            <a:avLst/>
          </a:prstGeom>
          <a:solidFill>
            <a:srgbClr val="516462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d2a6c2236b_0_184"/>
          <p:cNvSpPr txBox="1"/>
          <p:nvPr/>
        </p:nvSpPr>
        <p:spPr>
          <a:xfrm>
            <a:off x="7099425" y="1066925"/>
            <a:ext cx="46671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pl-PL">
                <a:solidFill>
                  <a:srgbClr val="5F6368"/>
                </a:solidFill>
              </a:rPr>
              <a:t>Seller Performance &amp; Delivery Delays Over Time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Quarterly Order Volume by Seller Performance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Seller Distribution across Delivery Delay Tiers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Trailing 6 Months Late Delivery Rate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Q1.4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Dynamic Rank of Seller Delivery Delay Risk</a:t>
            </a:r>
            <a:endParaRPr sz="1200">
              <a:solidFill>
                <a:srgbClr val="D3C6AA"/>
              </a:solidFill>
              <a:highlight>
                <a:srgbClr val="2D35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2: </a:t>
            </a:r>
            <a:r>
              <a:rPr b="1" lang="pl-PL">
                <a:solidFill>
                  <a:srgbClr val="5F6368"/>
                </a:solidFill>
              </a:rPr>
              <a:t>Product Category Profitability &amp; Price Sensitivity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Category Portfolio: Revenue, Volume and Price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r>
              <a:rPr lang="pl-PL" sz="1200">
                <a:solidFill>
                  <a:schemeClr val="dk1"/>
                </a:solidFill>
              </a:rPr>
              <a:t> Global and Internal Revenue Share by Price Tier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5F6368"/>
                </a:solidFill>
              </a:rPr>
              <a:t>Q</a:t>
            </a:r>
            <a:r>
              <a:rPr b="1" i="0" lang="pl-PL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b="1" lang="pl-PL">
                <a:solidFill>
                  <a:srgbClr val="5F6368"/>
                </a:solidFill>
              </a:rPr>
              <a:t>Geographic Impact on Delivery Performance</a:t>
            </a:r>
            <a:endParaRPr b="1">
              <a:solidFill>
                <a:srgbClr val="5F6368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Median Delivery Time by Geographical State</a:t>
            </a:r>
            <a:br>
              <a:rPr lang="pl-PL" sz="1200">
                <a:solidFill>
                  <a:schemeClr val="dk1"/>
                </a:solidFill>
              </a:rPr>
            </a:b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Delivery Reliability by Geographical State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</a:t>
            </a:r>
            <a:r>
              <a:rPr b="1" lang="pl-PL" sz="1200">
                <a:solidFill>
                  <a:srgbClr val="859289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r>
              <a:rPr lang="pl-PL" sz="1200">
                <a:solidFill>
                  <a:schemeClr val="dk1"/>
                </a:solidFill>
              </a:rPr>
              <a:t> Revenue at Risk Due to Late Deliveries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pl-PL">
                <a:solidFill>
                  <a:srgbClr val="5F6368"/>
                </a:solidFill>
              </a:rPr>
              <a:t>Q4: Market Growth Trajectory &amp; Revenue Momentum</a:t>
            </a:r>
            <a:endParaRPr b="1">
              <a:solidFill>
                <a:srgbClr val="5F6368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pl-PL" sz="1200">
                <a:solidFill>
                  <a:srgbClr val="859289"/>
                </a:solidFill>
              </a:rPr>
              <a:t>Q4.1</a:t>
            </a:r>
            <a:r>
              <a:rPr b="1" lang="pl-PL" sz="1200">
                <a:solidFill>
                  <a:srgbClr val="C89140"/>
                </a:solidFill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Monthly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Q4.2</a:t>
            </a:r>
            <a:r>
              <a:rPr lang="pl-PL" sz="1200">
                <a:solidFill>
                  <a:schemeClr val="dk1"/>
                </a:solidFill>
              </a:rPr>
              <a:t> MoM Growth Rate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59289"/>
                </a:solidFill>
              </a:rPr>
              <a:t>Q4.3</a:t>
            </a:r>
            <a:r>
              <a:rPr lang="pl-PL" sz="1200">
                <a:solidFill>
                  <a:schemeClr val="dk1"/>
                </a:solidFill>
              </a:rPr>
              <a:t> Trailing 3 Month Revenue of Market Leaders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200">
                <a:solidFill>
                  <a:srgbClr val="188038"/>
                </a:solidFill>
              </a:rPr>
              <a:t>Language:</a:t>
            </a:r>
            <a:r>
              <a:rPr lang="pl-PL" sz="1200">
                <a:solidFill>
                  <a:schemeClr val="dk1"/>
                </a:solidFill>
              </a:rPr>
              <a:t> Python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r>
              <a:rPr i="1" lang="pl-PL" sz="1200">
                <a:solidFill>
                  <a:schemeClr val="dk1"/>
                </a:solidFill>
              </a:rPr>
              <a:t>pandas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Jupyter</a:t>
            </a:r>
            <a:r>
              <a:rPr b="1" lang="pl-PL" sz="12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200">
                <a:solidFill>
                  <a:schemeClr val="dk1"/>
                </a:solidFill>
              </a:rPr>
              <a:t>Notebook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pl-PL" sz="1200">
                <a:solidFill>
                  <a:srgbClr val="188038"/>
                </a:solidFill>
              </a:rPr>
              <a:t>Code:</a:t>
            </a:r>
            <a:r>
              <a:rPr lang="pl-PL" sz="1200">
                <a:solidFill>
                  <a:schemeClr val="dk1"/>
                </a:solidFill>
              </a:rPr>
              <a:t> </a:t>
            </a:r>
            <a:r>
              <a:rPr i="1" lang="pl-PL" sz="1200">
                <a:solidFill>
                  <a:schemeClr val="dk1"/>
                </a:solidFill>
              </a:rPr>
              <a:t>ecommerce_analysis.ipynb</a:t>
            </a:r>
            <a:endParaRPr i="1" sz="1200"/>
          </a:p>
        </p:txBody>
      </p:sp>
      <p:sp>
        <p:nvSpPr>
          <p:cNvPr id="315" name="Google Shape;315;g3d2a6c2236b_0_184"/>
          <p:cNvSpPr/>
          <p:nvPr/>
        </p:nvSpPr>
        <p:spPr>
          <a:xfrm>
            <a:off x="7099125" y="1066925"/>
            <a:ext cx="4667400" cy="3296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d2a6c2236b_0_184"/>
          <p:cNvSpPr/>
          <p:nvPr/>
        </p:nvSpPr>
        <p:spPr>
          <a:xfrm>
            <a:off x="7099125" y="4637225"/>
            <a:ext cx="4667400" cy="4668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d2a6c2236b_0_184"/>
          <p:cNvSpPr txBox="1"/>
          <p:nvPr/>
        </p:nvSpPr>
        <p:spPr>
          <a:xfrm>
            <a:off x="520375" y="5294878"/>
            <a:ext cx="557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-PL" sz="1600">
                <a:solidFill>
                  <a:srgbClr val="C89140"/>
                </a:solidFill>
              </a:rPr>
              <a:t>Business Insight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l-PL">
                <a:solidFill>
                  <a:schemeClr val="dk1"/>
                </a:solidFill>
              </a:rPr>
              <a:t>The divergence between Leader 01 and the other segments in 2018 suggests a fundamental difference in operational strategy. The "Residual Stagnation" is a significant strategic concern; it suggests a lack of "growth engine" for small-to-medium sellers.</a:t>
            </a:r>
            <a:endParaRPr i="1">
              <a:solidFill>
                <a:schemeClr val="dk1"/>
              </a:solidFill>
            </a:endParaRPr>
          </a:p>
        </p:txBody>
      </p:sp>
      <p:pic>
        <p:nvPicPr>
          <p:cNvPr id="318" name="Google Shape;318;g3d2a6c2236b_0_184" title="Fig4.3.1 Trailing 3-Month Revenue 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78449"/>
            <a:ext cx="6485673" cy="3622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 txBox="1"/>
          <p:nvPr/>
        </p:nvSpPr>
        <p:spPr>
          <a:xfrm>
            <a:off x="425253" y="959346"/>
            <a:ext cx="5670600" cy="4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</a:rPr>
              <a:t>The platform’s growth was defined by </a:t>
            </a:r>
            <a:r>
              <a:rPr b="1" lang="pl-PL" sz="1600">
                <a:solidFill>
                  <a:srgbClr val="69807E"/>
                </a:solidFill>
              </a:rPr>
              <a:t>high volatility</a:t>
            </a:r>
            <a:r>
              <a:rPr lang="pl-PL" sz="1600">
                <a:solidFill>
                  <a:schemeClr val="dk1"/>
                </a:solidFill>
              </a:rPr>
              <a:t> and </a:t>
            </a:r>
            <a:r>
              <a:rPr b="1" lang="pl-PL" sz="1600">
                <a:solidFill>
                  <a:srgbClr val="69807E"/>
                </a:solidFill>
              </a:rPr>
              <a:t>structural concentration</a:t>
            </a:r>
            <a:r>
              <a:rPr lang="pl-PL" sz="1600">
                <a:solidFill>
                  <a:schemeClr val="dk1"/>
                </a:solidFill>
              </a:rPr>
              <a:t>, failing to achieve the sustained, linear expansion of the broader seller base required for long-term ecosystem health.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9807E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69807E"/>
                </a:solidFill>
              </a:rPr>
              <a:t>Core vulnerabilities:</a:t>
            </a:r>
            <a:endParaRPr b="1" sz="1800">
              <a:solidFill>
                <a:srgbClr val="69807E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pl-PL" sz="1600">
                <a:solidFill>
                  <a:srgbClr val="69807E"/>
                </a:solidFill>
              </a:rPr>
              <a:t>Revenue Polarisation: </a:t>
            </a:r>
            <a:r>
              <a:rPr lang="pl-PL" sz="1600">
                <a:solidFill>
                  <a:schemeClr val="dk1"/>
                </a:solidFill>
              </a:rPr>
              <a:t>few High-Yield product categories and Market Leaders paired with the stagnation of the Residual segment.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pl-PL" sz="1600">
                <a:solidFill>
                  <a:srgbClr val="69807E"/>
                </a:solidFill>
              </a:rPr>
              <a:t>Logistical Disconnect:</a:t>
            </a:r>
            <a:r>
              <a:rPr b="1" lang="pl-PL" sz="1600">
                <a:solidFill>
                  <a:srgbClr val="C89140"/>
                </a:solidFill>
              </a:rPr>
              <a:t> </a:t>
            </a:r>
            <a:r>
              <a:rPr lang="pl-PL" sz="1600">
                <a:solidFill>
                  <a:schemeClr val="dk1"/>
                </a:solidFill>
              </a:rPr>
              <a:t>high order volume does not correlate with operational excellence. Market Leaders are highly susceptible to supply chain friction.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-"/>
            </a:pPr>
            <a:r>
              <a:rPr b="1" lang="pl-PL" sz="1600">
                <a:solidFill>
                  <a:srgbClr val="69807E"/>
                </a:solidFill>
              </a:rPr>
              <a:t>Regional Asymmetry:</a:t>
            </a:r>
            <a:r>
              <a:rPr b="1" lang="pl-PL" sz="1600">
                <a:solidFill>
                  <a:srgbClr val="C89140"/>
                </a:solidFill>
              </a:rPr>
              <a:t> </a:t>
            </a:r>
            <a:r>
              <a:rPr lang="pl-PL" sz="1600">
                <a:solidFill>
                  <a:schemeClr val="dk1"/>
                </a:solidFill>
              </a:rPr>
              <a:t>deeply fragmented logistical landscape (revenue-dominant São Paulo versus low-volume Amazonas).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425253" y="677504"/>
            <a:ext cx="5670748" cy="120355"/>
          </a:xfrm>
          <a:prstGeom prst="rect">
            <a:avLst/>
          </a:prstGeom>
          <a:solidFill>
            <a:srgbClr val="69807E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344570" y="154284"/>
            <a:ext cx="74547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 – key findings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2a6c2236b_0_17"/>
          <p:cNvSpPr txBox="1"/>
          <p:nvPr/>
        </p:nvSpPr>
        <p:spPr>
          <a:xfrm>
            <a:off x="425253" y="959346"/>
            <a:ext cx="5670600" cy="4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</a:rPr>
              <a:t>The platform’s growth was defined by </a:t>
            </a:r>
            <a:r>
              <a:rPr b="1" lang="pl-PL" sz="1600">
                <a:solidFill>
                  <a:srgbClr val="69807E"/>
                </a:solidFill>
              </a:rPr>
              <a:t>high volatility</a:t>
            </a:r>
            <a:r>
              <a:rPr lang="pl-PL" sz="1600">
                <a:solidFill>
                  <a:schemeClr val="dk1"/>
                </a:solidFill>
              </a:rPr>
              <a:t> and </a:t>
            </a:r>
            <a:r>
              <a:rPr b="1" lang="pl-PL" sz="1600">
                <a:solidFill>
                  <a:srgbClr val="69807E"/>
                </a:solidFill>
              </a:rPr>
              <a:t>structural concentration</a:t>
            </a:r>
            <a:r>
              <a:rPr lang="pl-PL" sz="1600">
                <a:solidFill>
                  <a:schemeClr val="dk1"/>
                </a:solidFill>
              </a:rPr>
              <a:t>, failing to achieve the sustained, linear expansion of the broader seller base required for long-term ecosystem health.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9807E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69807E"/>
                </a:solidFill>
              </a:rPr>
              <a:t>Core vulnerabilities:</a:t>
            </a:r>
            <a:endParaRPr b="1" sz="1800">
              <a:solidFill>
                <a:srgbClr val="69807E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b="1" lang="pl-PL" sz="1600">
                <a:solidFill>
                  <a:srgbClr val="69807E"/>
                </a:solidFill>
              </a:rPr>
              <a:t>Revenue Polarisation: </a:t>
            </a:r>
            <a:r>
              <a:rPr lang="pl-PL" sz="1600">
                <a:solidFill>
                  <a:schemeClr val="dk1"/>
                </a:solidFill>
              </a:rPr>
              <a:t>few High-Yield product categories and Market Leaders paired with the stagnation of the Residual segment.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b="1" lang="pl-PL" sz="1600">
                <a:solidFill>
                  <a:srgbClr val="69807E"/>
                </a:solidFill>
              </a:rPr>
              <a:t>Logistical Disconnect:</a:t>
            </a:r>
            <a:r>
              <a:rPr b="1" lang="pl-PL" sz="1600">
                <a:solidFill>
                  <a:srgbClr val="C89140"/>
                </a:solidFill>
              </a:rPr>
              <a:t> </a:t>
            </a:r>
            <a:r>
              <a:rPr lang="pl-PL" sz="1600">
                <a:solidFill>
                  <a:schemeClr val="dk1"/>
                </a:solidFill>
              </a:rPr>
              <a:t>high order volume does not correlate with operational excellence. Market Leaders are highly susceptible to supply chain friction.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-"/>
            </a:pPr>
            <a:r>
              <a:rPr b="1" lang="pl-PL" sz="1600">
                <a:solidFill>
                  <a:srgbClr val="69807E"/>
                </a:solidFill>
              </a:rPr>
              <a:t>Regional Asymmetry:</a:t>
            </a:r>
            <a:r>
              <a:rPr b="1" lang="pl-PL" sz="1600">
                <a:solidFill>
                  <a:srgbClr val="C89140"/>
                </a:solidFill>
              </a:rPr>
              <a:t> </a:t>
            </a:r>
            <a:r>
              <a:rPr lang="pl-PL" sz="1600">
                <a:solidFill>
                  <a:schemeClr val="dk1"/>
                </a:solidFill>
              </a:rPr>
              <a:t>deeply fragmented logistical landscape (revenue-dominant São Paulo versus low-volume Amazonas).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31" name="Google Shape;331;g3d2a6c2236b_0_17"/>
          <p:cNvSpPr/>
          <p:nvPr/>
        </p:nvSpPr>
        <p:spPr>
          <a:xfrm>
            <a:off x="425253" y="677504"/>
            <a:ext cx="5670600" cy="120300"/>
          </a:xfrm>
          <a:prstGeom prst="rect">
            <a:avLst/>
          </a:prstGeom>
          <a:solidFill>
            <a:srgbClr val="69807E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d2a6c2236b_0_17"/>
          <p:cNvSpPr txBox="1"/>
          <p:nvPr/>
        </p:nvSpPr>
        <p:spPr>
          <a:xfrm>
            <a:off x="344570" y="154284"/>
            <a:ext cx="74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 – key findings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d2a6c2236b_0_17"/>
          <p:cNvSpPr txBox="1"/>
          <p:nvPr/>
        </p:nvSpPr>
        <p:spPr>
          <a:xfrm>
            <a:off x="6605525" y="3749500"/>
            <a:ext cx="47307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pl-PL" sz="1600">
                <a:solidFill>
                  <a:srgbClr val="C89140"/>
                </a:solidFill>
              </a:rPr>
              <a:t>〽 </a:t>
            </a:r>
            <a:r>
              <a:rPr lang="pl-PL" sz="1600">
                <a:solidFill>
                  <a:schemeClr val="dk1"/>
                </a:solidFill>
              </a:rPr>
              <a:t>Growth strategies of Leaders must be paired with </a:t>
            </a:r>
            <a:r>
              <a:rPr b="1" lang="pl-PL" sz="1600">
                <a:solidFill>
                  <a:srgbClr val="C89140"/>
                </a:solidFill>
              </a:rPr>
              <a:t>mandatory logistical upgrades</a:t>
            </a:r>
            <a:r>
              <a:rPr lang="pl-PL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34" name="Google Shape;334;g3d2a6c2236b_0_17"/>
          <p:cNvSpPr txBox="1"/>
          <p:nvPr/>
        </p:nvSpPr>
        <p:spPr>
          <a:xfrm>
            <a:off x="6551875" y="4720475"/>
            <a:ext cx="4730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pl-PL" sz="1600">
                <a:solidFill>
                  <a:srgbClr val="C89140"/>
                </a:solidFill>
              </a:rPr>
              <a:t>〽 </a:t>
            </a:r>
            <a:r>
              <a:rPr lang="pl-PL" sz="1600">
                <a:solidFill>
                  <a:schemeClr val="dk1"/>
                </a:solidFill>
              </a:rPr>
              <a:t>Logistics recovery efforts must be </a:t>
            </a:r>
            <a:r>
              <a:rPr b="1" lang="pl-PL" sz="1600">
                <a:solidFill>
                  <a:srgbClr val="C89140"/>
                </a:solidFill>
              </a:rPr>
              <a:t>prioritized in</a:t>
            </a:r>
            <a:r>
              <a:rPr lang="pl-PL" sz="1600">
                <a:solidFill>
                  <a:schemeClr val="dk1"/>
                </a:solidFill>
              </a:rPr>
              <a:t> </a:t>
            </a:r>
            <a:r>
              <a:rPr b="1" lang="pl-PL" sz="1600">
                <a:solidFill>
                  <a:srgbClr val="C89140"/>
                </a:solidFill>
              </a:rPr>
              <a:t>highest-density revenue streams</a:t>
            </a:r>
            <a:r>
              <a:rPr lang="pl-PL" sz="1600">
                <a:solidFill>
                  <a:schemeClr val="dk1"/>
                </a:solidFill>
              </a:rPr>
              <a:t> first.</a:t>
            </a:r>
            <a:endParaRPr/>
          </a:p>
        </p:txBody>
      </p:sp>
      <p:sp>
        <p:nvSpPr>
          <p:cNvPr id="335" name="Google Shape;335;g3d2a6c2236b_0_17"/>
          <p:cNvSpPr txBox="1"/>
          <p:nvPr/>
        </p:nvSpPr>
        <p:spPr>
          <a:xfrm>
            <a:off x="6605525" y="2778525"/>
            <a:ext cx="47307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pl-PL" sz="1600">
                <a:solidFill>
                  <a:srgbClr val="C89140"/>
                </a:solidFill>
              </a:rPr>
              <a:t>〽 </a:t>
            </a:r>
            <a:r>
              <a:rPr b="1" lang="pl-PL" sz="1600">
                <a:solidFill>
                  <a:schemeClr val="dk1"/>
                </a:solidFill>
              </a:rPr>
              <a:t>️</a:t>
            </a:r>
            <a:r>
              <a:rPr lang="pl-PL" sz="1600">
                <a:solidFill>
                  <a:schemeClr val="dk1"/>
                </a:solidFill>
              </a:rPr>
              <a:t>The platform must introduce </a:t>
            </a:r>
            <a:r>
              <a:rPr b="1" lang="pl-PL" sz="1600">
                <a:solidFill>
                  <a:srgbClr val="C89140"/>
                </a:solidFill>
              </a:rPr>
              <a:t>a growth engine</a:t>
            </a:r>
            <a:r>
              <a:rPr lang="pl-PL" sz="1600">
                <a:solidFill>
                  <a:schemeClr val="dk1"/>
                </a:solidFill>
              </a:rPr>
              <a:t> for middle-class sellers.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36" name="Google Shape;336;g3d2a6c2236b_0_17"/>
          <p:cNvSpPr txBox="1"/>
          <p:nvPr/>
        </p:nvSpPr>
        <p:spPr>
          <a:xfrm>
            <a:off x="6605525" y="2315926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pl-PL" sz="1800">
                <a:solidFill>
                  <a:srgbClr val="C89140"/>
                </a:solidFill>
              </a:rPr>
              <a:t>Business Insight: </a:t>
            </a:r>
            <a:endParaRPr b="1" sz="1800"/>
          </a:p>
        </p:txBody>
      </p:sp>
      <p:sp>
        <p:nvSpPr>
          <p:cNvPr id="337" name="Google Shape;337;g3d2a6c2236b_0_17"/>
          <p:cNvSpPr/>
          <p:nvPr/>
        </p:nvSpPr>
        <p:spPr>
          <a:xfrm>
            <a:off x="6605525" y="2724381"/>
            <a:ext cx="4730700" cy="21000"/>
          </a:xfrm>
          <a:prstGeom prst="rect">
            <a:avLst/>
          </a:prstGeom>
          <a:solidFill>
            <a:srgbClr val="C89140"/>
          </a:solidFill>
          <a:ln cap="flat" cmpd="sng" w="9525">
            <a:solidFill>
              <a:srgbClr val="C891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/>
          <p:nvPr/>
        </p:nvSpPr>
        <p:spPr>
          <a:xfrm>
            <a:off x="425253" y="677504"/>
            <a:ext cx="5670748" cy="120355"/>
          </a:xfrm>
          <a:prstGeom prst="rect">
            <a:avLst/>
          </a:prstGeom>
          <a:solidFill>
            <a:srgbClr val="69807E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344570" y="154284"/>
            <a:ext cx="74547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 – analysis limitations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425250" y="959200"/>
            <a:ext cx="56709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1600" lvl="0" marL="36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i="1" lang="pl-PL">
                <a:solidFill>
                  <a:schemeClr val="dk1"/>
                </a:solidFill>
              </a:rPr>
              <a:t>The 100,000-order snapshot is a </a:t>
            </a:r>
            <a:r>
              <a:rPr b="1" i="1" lang="pl-PL">
                <a:solidFill>
                  <a:srgbClr val="69807E"/>
                </a:solidFill>
              </a:rPr>
              <a:t>historical "frozen" dataset</a:t>
            </a:r>
            <a:r>
              <a:rPr i="1" lang="pl-PL">
                <a:solidFill>
                  <a:schemeClr val="dk1"/>
                </a:solidFill>
              </a:rPr>
              <a:t> (2016–2018) and may not reflect recent post-pandemic shifts in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i="1" lang="pl-PL">
                <a:solidFill>
                  <a:schemeClr val="dk1"/>
                </a:solidFill>
              </a:rPr>
              <a:t>Brazilian e-commerce behavior or logistics;</a:t>
            </a:r>
            <a:endParaRPr/>
          </a:p>
          <a:p>
            <a:pPr indent="-180000" lvl="0" marL="360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600" lvl="0" marL="36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i="1" lang="pl-PL">
                <a:solidFill>
                  <a:schemeClr val="dk1"/>
                </a:solidFill>
              </a:rPr>
              <a:t>Models do not account for</a:t>
            </a:r>
            <a:r>
              <a:rPr b="1" i="1" lang="pl-PL">
                <a:solidFill>
                  <a:srgbClr val="69807E"/>
                </a:solidFill>
              </a:rPr>
              <a:t> external macroeconomic factors</a:t>
            </a:r>
            <a:r>
              <a:rPr i="1" lang="pl-PL">
                <a:solidFill>
                  <a:schemeClr val="dk1"/>
                </a:solidFill>
              </a:rPr>
              <a:t> (e.g.,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i="1" lang="pl-PL">
                <a:solidFill>
                  <a:schemeClr val="dk1"/>
                </a:solidFill>
              </a:rPr>
              <a:t>BRL exchange rate volatility, national strikes, changes in postal service pricing) during the window;</a:t>
            </a:r>
            <a:endParaRPr i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360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600" lvl="0" marL="36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i="1" lang="pl-PL">
                <a:solidFill>
                  <a:schemeClr val="dk1"/>
                </a:solidFill>
              </a:rPr>
              <a:t>The SQL views treat </a:t>
            </a:r>
            <a:r>
              <a:rPr b="1" i="1" lang="pl-PL">
                <a:solidFill>
                  <a:srgbClr val="69807E"/>
                </a:solidFill>
              </a:rPr>
              <a:t>cancelled orders</a:t>
            </a:r>
            <a:r>
              <a:rPr i="1" lang="pl-PL">
                <a:solidFill>
                  <a:schemeClr val="dk1"/>
                </a:solidFill>
              </a:rPr>
              <a:t> as lost revenue but cannot distinguish between seller-fault cancellations and customer-driven returns;</a:t>
            </a:r>
            <a:endParaRPr/>
          </a:p>
          <a:p>
            <a:pPr indent="-180000" lvl="0" marL="3600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1600" lvl="0" marL="36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i="1" lang="pl-PL">
                <a:solidFill>
                  <a:schemeClr val="dk1"/>
                </a:solidFill>
              </a:rPr>
              <a:t>The T3M and MoM growth models assume a degree of continuity that </a:t>
            </a:r>
            <a:r>
              <a:rPr b="1" i="1" lang="pl-PL">
                <a:solidFill>
                  <a:srgbClr val="69807E"/>
                </a:solidFill>
              </a:rPr>
              <a:t>may overlook micro-seasonal events</a:t>
            </a:r>
            <a:r>
              <a:rPr i="1" lang="pl-PL">
                <a:solidFill>
                  <a:schemeClr val="dk1"/>
                </a:solidFill>
              </a:rPr>
              <a:t> (e.g., local holidays).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Important note:</a:t>
            </a:r>
            <a:endParaRPr b="1" sz="1600">
              <a:solidFill>
                <a:srgbClr val="C89140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>
                <a:solidFill>
                  <a:schemeClr val="dk1"/>
                </a:solidFill>
              </a:rPr>
              <a:t>Offered insights are entirely focused on internal marketplace dynamics and are not based on academic knowledge of Brazilian macroeconomics.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>
                <a:solidFill>
                  <a:schemeClr val="dk1"/>
                </a:solidFill>
              </a:rPr>
              <a:t>My aim was to demonstrate the ability to architect data, design robust ETL processes, and extract actionable business intelligence from</a:t>
            </a:r>
            <a:r>
              <a:rPr i="1" lang="pl-PL">
                <a:solidFill>
                  <a:schemeClr val="dk1"/>
                </a:solidFill>
              </a:rPr>
              <a:t> </a:t>
            </a:r>
            <a:r>
              <a:rPr lang="pl-PL">
                <a:solidFill>
                  <a:schemeClr val="dk1"/>
                </a:solidFill>
              </a:rPr>
              <a:t>complex relational datasets.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/>
          <p:nvPr/>
        </p:nvSpPr>
        <p:spPr>
          <a:xfrm>
            <a:off x="6096000" y="677501"/>
            <a:ext cx="5670600" cy="120300"/>
          </a:xfrm>
          <a:prstGeom prst="rect">
            <a:avLst/>
          </a:prstGeom>
          <a:solidFill>
            <a:srgbClr val="28774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5670748" y="154280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-PL" sz="2800">
                <a:solidFill>
                  <a:schemeClr val="dk1"/>
                </a:solidFill>
              </a:rPr>
              <a:t>Final results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6345400" y="1002775"/>
            <a:ext cx="5421300" cy="5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287740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r>
              <a:rPr b="1" lang="pl-PL" sz="1600">
                <a:solidFill>
                  <a:srgbClr val="287740"/>
                </a:solidFill>
              </a:rPr>
              <a:t>olist_customers_dataset</a:t>
            </a:r>
            <a:r>
              <a:rPr lang="pl-PL" sz="1600">
                <a:solidFill>
                  <a:srgbClr val="287740"/>
                </a:solidFill>
              </a:rPr>
              <a:t>_conv</a:t>
            </a:r>
            <a:r>
              <a:rPr b="1" lang="pl-PL" sz="1600">
                <a:solidFill>
                  <a:srgbClr val="287740"/>
                </a:solidFill>
              </a:rPr>
              <a:t>.csv } …</a:t>
            </a:r>
            <a:endParaRPr b="1" sz="1900">
              <a:solidFill>
                <a:srgbClr val="2243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i="1" lang="pl-PL">
                <a:solidFill>
                  <a:schemeClr val="dk1"/>
                </a:solidFill>
              </a:rPr>
              <a:t>O</a:t>
            </a:r>
            <a:r>
              <a:rPr i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datasets converted (pre-staging)</a:t>
            </a:r>
            <a:r>
              <a:rPr i="1" lang="pl-PL">
                <a:solidFill>
                  <a:schemeClr val="dk1"/>
                </a:solidFill>
              </a:rPr>
              <a:t> before loading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188038"/>
                </a:solidFill>
              </a:rPr>
              <a:t>ecommerce_converter.py</a:t>
            </a:r>
            <a:endParaRPr>
              <a:solidFill>
                <a:srgbClr val="188038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pl-PL">
                <a:solidFill>
                  <a:schemeClr val="dk1"/>
                </a:solidFill>
              </a:rPr>
              <a:t>Python pre-staging code that can be reused in future</a:t>
            </a:r>
            <a:r>
              <a:rPr i="1" lang="pl-PL" sz="1200">
                <a:solidFill>
                  <a:schemeClr val="dk1"/>
                </a:solidFill>
              </a:rPr>
              <a:t>;</a:t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-PL" sz="1600">
                <a:solidFill>
                  <a:srgbClr val="188038"/>
                </a:solidFill>
              </a:rPr>
              <a:t>ecommerce_ETL.sql</a:t>
            </a:r>
            <a:endParaRPr>
              <a:solidFill>
                <a:srgbClr val="188038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pl-PL">
                <a:solidFill>
                  <a:schemeClr val="dk1"/>
                </a:solidFill>
              </a:rPr>
              <a:t>PostgreSQL ETL code that can be reused in future</a:t>
            </a:r>
            <a:r>
              <a:rPr i="1" lang="pl-PL" sz="1200">
                <a:solidFill>
                  <a:schemeClr val="dk1"/>
                </a:solidFill>
              </a:rPr>
              <a:t>;</a:t>
            </a:r>
            <a:endParaRPr i="1"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-PL" sz="1600">
                <a:solidFill>
                  <a:srgbClr val="188038"/>
                </a:solidFill>
              </a:rPr>
              <a:t>ecommerce_analysis.ipynb</a:t>
            </a:r>
            <a:endParaRPr>
              <a:solidFill>
                <a:srgbClr val="188038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pl-PL">
                <a:solidFill>
                  <a:schemeClr val="dk1"/>
                </a:solidFill>
              </a:rPr>
              <a:t>queries and visualizations that can be reused in future</a:t>
            </a:r>
            <a:r>
              <a:rPr i="1" lang="pl-PL" sz="1200">
                <a:solidFill>
                  <a:schemeClr val="dk1"/>
                </a:solidFill>
              </a:rPr>
              <a:t>;</a:t>
            </a:r>
            <a:endParaRPr i="1"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-PL" sz="1600">
                <a:solidFill>
                  <a:srgbClr val="287740"/>
                </a:solidFill>
              </a:rPr>
              <a:t>{ int_leaders_late_delivery_count } …</a:t>
            </a:r>
            <a:endParaRPr b="1" sz="1600">
              <a:solidFill>
                <a:srgbClr val="287740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-PL" sz="1000">
                <a:solidFill>
                  <a:srgbClr val="287740"/>
                </a:solidFill>
              </a:rPr>
              <a:t>{ int_market_leaders } </a:t>
            </a:r>
            <a:endParaRPr b="1" sz="1000">
              <a:solidFill>
                <a:srgbClr val="28774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-PL" sz="1000">
                <a:solidFill>
                  <a:srgbClr val="287740"/>
                </a:solidFill>
              </a:rPr>
              <a:t>{ rpt_q1_leaders_l6m_late_delivery_rate }</a:t>
            </a:r>
            <a:endParaRPr b="1" sz="1000">
              <a:solidFill>
                <a:srgbClr val="28774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000">
                <a:solidFill>
                  <a:srgbClr val="287740"/>
                </a:solidFill>
              </a:rPr>
              <a:t>{ rpt_q1_leaders_market_share }</a:t>
            </a:r>
            <a:endParaRPr b="1" sz="1000">
              <a:solidFill>
                <a:srgbClr val="28774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000">
                <a:solidFill>
                  <a:srgbClr val="287740"/>
                </a:solidFill>
              </a:rPr>
              <a:t>{ rpt_q1_leaders_market_share_delay_risk }</a:t>
            </a:r>
            <a:endParaRPr b="1" sz="1000">
              <a:solidFill>
                <a:srgbClr val="28774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000">
                <a:solidFill>
                  <a:srgbClr val="287740"/>
                </a:solidFill>
              </a:rPr>
              <a:t>{ rpt_q1_leaders_monthly_ldr_segmentation }</a:t>
            </a:r>
            <a:endParaRPr b="1" sz="1000">
              <a:solidFill>
                <a:srgbClr val="28774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000">
                <a:solidFill>
                  <a:srgbClr val="287740"/>
                </a:solidFill>
              </a:rPr>
              <a:t>{ rpt_q1_seller_delivery_delay_segmentation }</a:t>
            </a:r>
            <a:endParaRPr b="1" sz="1000">
              <a:solidFill>
                <a:srgbClr val="28774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000">
                <a:solidFill>
                  <a:srgbClr val="287740"/>
                </a:solidFill>
              </a:rPr>
              <a:t>{ rpt_q1_seller_quarterly_performance }</a:t>
            </a:r>
            <a:endParaRPr b="1" sz="1000">
              <a:solidFill>
                <a:srgbClr val="28774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000">
                <a:solidFill>
                  <a:srgbClr val="287740"/>
                </a:solidFill>
              </a:rPr>
              <a:t>{ rpt_q2_product_category_performance }</a:t>
            </a:r>
            <a:endParaRPr b="1" sz="1000">
              <a:solidFill>
                <a:srgbClr val="28774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000">
                <a:solidFill>
                  <a:srgbClr val="287740"/>
                </a:solidFill>
              </a:rPr>
              <a:t>{ rpt_q2_top_categories_in_revenue }</a:t>
            </a:r>
            <a:endParaRPr b="1" sz="1000">
              <a:solidFill>
                <a:srgbClr val="28774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000">
                <a:solidFill>
                  <a:srgbClr val="287740"/>
                </a:solidFill>
              </a:rPr>
              <a:t>{ rpt_q2_top_categories_in_revenue_priceband }</a:t>
            </a:r>
            <a:endParaRPr b="1" sz="1000">
              <a:solidFill>
                <a:srgbClr val="28774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000">
                <a:solidFill>
                  <a:srgbClr val="287740"/>
                </a:solidFill>
              </a:rPr>
              <a:t>{ rpt_q3_state_delivery_estimation_reliability }</a:t>
            </a:r>
            <a:endParaRPr b="1" sz="1000">
              <a:solidFill>
                <a:srgbClr val="28774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000">
                <a:solidFill>
                  <a:srgbClr val="287740"/>
                </a:solidFill>
              </a:rPr>
              <a:t>{ rpt_q4_leaders_mom_growth }</a:t>
            </a:r>
            <a:endParaRPr b="1" sz="1000">
              <a:solidFill>
                <a:srgbClr val="2877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pl-PL">
                <a:solidFill>
                  <a:schemeClr val="dk1"/>
                </a:solidFill>
              </a:rPr>
              <a:t>		a set of intermediate and report-ready SQL views</a:t>
            </a:r>
            <a:r>
              <a:rPr i="1" lang="pl-PL" sz="1200">
                <a:solidFill>
                  <a:schemeClr val="dk1"/>
                </a:solidFill>
              </a:rPr>
              <a:t>;</a:t>
            </a:r>
            <a:endParaRPr i="1" sz="1200">
              <a:solidFill>
                <a:schemeClr val="dk1"/>
              </a:solidFill>
            </a:endParaRPr>
          </a:p>
        </p:txBody>
      </p:sp>
      <p:pic>
        <p:nvPicPr>
          <p:cNvPr descr="36- data source Vector Icons free download in SVG, PNG Format" id="352" name="Google Shape;3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7165" y="988482"/>
            <a:ext cx="395085" cy="434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353" name="Google Shape;35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409140" y="1904358"/>
            <a:ext cx="371138" cy="408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354" name="Google Shape;35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409140" y="2568408"/>
            <a:ext cx="371138" cy="408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355" name="Google Shape;35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409140" y="3205528"/>
            <a:ext cx="371138" cy="408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6- data source Vector Icons free download in SVG, PNG Format" id="356" name="Google Shape;3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7178" y="3797775"/>
            <a:ext cx="395085" cy="434788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5"/>
          <p:cNvSpPr txBox="1"/>
          <p:nvPr/>
        </p:nvSpPr>
        <p:spPr>
          <a:xfrm>
            <a:off x="425250" y="959200"/>
            <a:ext cx="56709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1600" lvl="0" marL="36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i="1" lang="pl-PL">
                <a:solidFill>
                  <a:schemeClr val="dk1"/>
                </a:solidFill>
              </a:rPr>
              <a:t>The 100,000-order snapshot is a </a:t>
            </a:r>
            <a:r>
              <a:rPr b="1" i="1" lang="pl-PL">
                <a:solidFill>
                  <a:srgbClr val="69807E"/>
                </a:solidFill>
              </a:rPr>
              <a:t>historical "frozen" dataset</a:t>
            </a:r>
            <a:r>
              <a:rPr i="1" lang="pl-PL">
                <a:solidFill>
                  <a:schemeClr val="dk1"/>
                </a:solidFill>
              </a:rPr>
              <a:t> (2016–2018) and may not reflect recent post-pandemic shifts in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i="1" lang="pl-PL">
                <a:solidFill>
                  <a:schemeClr val="dk1"/>
                </a:solidFill>
              </a:rPr>
              <a:t>Brazilian e-commerce behavior or logistics;</a:t>
            </a:r>
            <a:endParaRPr/>
          </a:p>
          <a:p>
            <a:pPr indent="-180000" lvl="0" marL="360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600" lvl="0" marL="36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i="1" lang="pl-PL">
                <a:solidFill>
                  <a:schemeClr val="dk1"/>
                </a:solidFill>
              </a:rPr>
              <a:t>Models do not account for</a:t>
            </a:r>
            <a:r>
              <a:rPr b="1" i="1" lang="pl-PL">
                <a:solidFill>
                  <a:srgbClr val="69807E"/>
                </a:solidFill>
              </a:rPr>
              <a:t> external macroeconomic factors</a:t>
            </a:r>
            <a:r>
              <a:rPr i="1" lang="pl-PL">
                <a:solidFill>
                  <a:schemeClr val="dk1"/>
                </a:solidFill>
              </a:rPr>
              <a:t> (e.g.,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i="1" lang="pl-PL">
                <a:solidFill>
                  <a:schemeClr val="dk1"/>
                </a:solidFill>
              </a:rPr>
              <a:t>BRL exchange rate volatility, national strikes, changes in postal service pricing) during the window;</a:t>
            </a:r>
            <a:endParaRPr i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360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600" lvl="0" marL="36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i="1" lang="pl-PL">
                <a:solidFill>
                  <a:schemeClr val="dk1"/>
                </a:solidFill>
              </a:rPr>
              <a:t>The SQL views treat </a:t>
            </a:r>
            <a:r>
              <a:rPr b="1" i="1" lang="pl-PL">
                <a:solidFill>
                  <a:srgbClr val="69807E"/>
                </a:solidFill>
              </a:rPr>
              <a:t>cancelled orders</a:t>
            </a:r>
            <a:r>
              <a:rPr i="1" lang="pl-PL">
                <a:solidFill>
                  <a:schemeClr val="dk1"/>
                </a:solidFill>
              </a:rPr>
              <a:t> as lost revenue but cannot distinguish between seller-fault cancellations and customer-driven returns;</a:t>
            </a:r>
            <a:endParaRPr/>
          </a:p>
          <a:p>
            <a:pPr indent="-180000" lvl="0" marL="3600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1600" lvl="0" marL="36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i="1" lang="pl-PL">
                <a:solidFill>
                  <a:schemeClr val="dk1"/>
                </a:solidFill>
              </a:rPr>
              <a:t>The T3M and MoM growth models assume a degree of continuity that </a:t>
            </a:r>
            <a:r>
              <a:rPr b="1" i="1" lang="pl-PL">
                <a:solidFill>
                  <a:srgbClr val="69807E"/>
                </a:solidFill>
              </a:rPr>
              <a:t>may overlook micro-seasonal events</a:t>
            </a:r>
            <a:r>
              <a:rPr i="1" lang="pl-PL">
                <a:solidFill>
                  <a:schemeClr val="dk1"/>
                </a:solidFill>
              </a:rPr>
              <a:t> (e.g., local holidays).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Important note: </a:t>
            </a:r>
            <a:b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>
                <a:solidFill>
                  <a:schemeClr val="dk1"/>
                </a:solidFill>
              </a:rPr>
              <a:t>Offered insights are entirely focused on internal marketplace dynamics and are not based on academic knowledge of Brazilian macroeconomics.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>
                <a:solidFill>
                  <a:schemeClr val="dk1"/>
                </a:solidFill>
              </a:rPr>
              <a:t>My aim was to demonstrate the ability to architect data, design robust ETL processes, and extract actionable business intelligence from</a:t>
            </a:r>
            <a:r>
              <a:rPr i="1" lang="pl-PL">
                <a:solidFill>
                  <a:schemeClr val="dk1"/>
                </a:solidFill>
              </a:rPr>
              <a:t> </a:t>
            </a:r>
            <a:r>
              <a:rPr lang="pl-PL">
                <a:solidFill>
                  <a:schemeClr val="dk1"/>
                </a:solidFill>
              </a:rPr>
              <a:t>complex relational datasets.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497075" y="878450"/>
            <a:ext cx="5545200" cy="55413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2a6c2236b_0_38"/>
          <p:cNvSpPr/>
          <p:nvPr/>
        </p:nvSpPr>
        <p:spPr>
          <a:xfrm>
            <a:off x="425253" y="677504"/>
            <a:ext cx="5670600" cy="108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d2a6c2236b_0_38"/>
          <p:cNvSpPr txBox="1"/>
          <p:nvPr/>
        </p:nvSpPr>
        <p:spPr>
          <a:xfrm>
            <a:off x="344570" y="154284"/>
            <a:ext cx="74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skills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d2a6c2236b_0_38"/>
          <p:cNvSpPr txBox="1"/>
          <p:nvPr/>
        </p:nvSpPr>
        <p:spPr>
          <a:xfrm>
            <a:off x="425253" y="905360"/>
            <a:ext cx="114801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modelling &amp; engineering</a:t>
            </a:r>
            <a:endParaRPr sz="1600"/>
          </a:p>
          <a:p>
            <a:pPr indent="-184150" lvl="0" marL="361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pl-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Designing </a:t>
            </a:r>
            <a:r>
              <a:rPr lang="pl-PL" sz="16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a star-schema model </a:t>
            </a:r>
            <a:r>
              <a:rPr lang="pl-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(fact </a:t>
            </a:r>
            <a:r>
              <a:rPr lang="pl-PL" sz="1600"/>
              <a:t>&amp;</a:t>
            </a:r>
            <a:r>
              <a:rPr lang="pl-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dimension tables) within a PostgreSQL environment.</a:t>
            </a:r>
            <a:endParaRPr sz="1600"/>
          </a:p>
          <a:p>
            <a:pPr indent="-184150" lvl="0" marL="361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pl-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Creating robust </a:t>
            </a:r>
            <a:r>
              <a:rPr lang="pl-PL" sz="16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one-to-many and one-to-one relationships</a:t>
            </a:r>
            <a:r>
              <a:rPr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across complex relational datasets</a:t>
            </a:r>
            <a:r>
              <a:rPr lang="pl-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/>
          </a:p>
          <a:p>
            <a:pPr indent="-184150" lvl="0" marL="361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pl-PL" sz="1600"/>
              <a:t>Resolving data ambiguity and category mapping using </a:t>
            </a:r>
            <a:r>
              <a:rPr lang="pl-PL" sz="1600">
                <a:solidFill>
                  <a:srgbClr val="188038"/>
                </a:solidFill>
              </a:rPr>
              <a:t>lookup and bridging tables</a:t>
            </a:r>
            <a:r>
              <a:rPr lang="pl-PL" sz="1600"/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361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pl-PL" sz="1600"/>
              <a:t>Building </a:t>
            </a:r>
            <a:r>
              <a:rPr lang="pl-PL" sz="1600">
                <a:solidFill>
                  <a:srgbClr val="188038"/>
                </a:solidFill>
              </a:rPr>
              <a:t>advanced aggregation measures</a:t>
            </a:r>
            <a:r>
              <a:rPr lang="pl-PL" sz="1600"/>
              <a:t> (e.g., T3M smoothing, MoM growth, percentile-based thresholds)</a:t>
            </a:r>
            <a:r>
              <a:rPr lang="pl-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7791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visualization &amp; </a:t>
            </a:r>
            <a:r>
              <a:rPr b="1" lang="pl-PL" sz="1800">
                <a:solidFill>
                  <a:schemeClr val="dk1"/>
                </a:solidFill>
              </a:rPr>
              <a:t>s</a:t>
            </a:r>
            <a:r>
              <a:rPr b="1" lang="pl-PL" sz="1800">
                <a:solidFill>
                  <a:schemeClr val="dk1"/>
                </a:solidFill>
              </a:rPr>
              <a:t>torytelling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3675" lvl="0" marL="143986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pl-PL" sz="1600"/>
              <a:t>Translating a strategic business narrative into a </a:t>
            </a:r>
            <a:r>
              <a:rPr lang="pl-PL" sz="1600">
                <a:solidFill>
                  <a:srgbClr val="C89140"/>
                </a:solidFill>
              </a:rPr>
              <a:t>functional, highly readable analytical report</a:t>
            </a:r>
            <a:r>
              <a:rPr lang="pl-PL" sz="1600"/>
              <a:t>.</a:t>
            </a:r>
            <a:endParaRPr sz="1600"/>
          </a:p>
          <a:p>
            <a:pPr indent="-193675" lvl="0" marL="143986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pl-PL" sz="1600"/>
              <a:t>Highlighting </a:t>
            </a:r>
            <a:r>
              <a:rPr lang="pl-PL" sz="1600">
                <a:solidFill>
                  <a:srgbClr val="C89140"/>
                </a:solidFill>
              </a:rPr>
              <a:t>high-impact segments</a:t>
            </a:r>
            <a:r>
              <a:rPr lang="pl-PL" sz="1600"/>
              <a:t> (e.g., Market Leaders, high-yield categories, and at-risk regions) visually.</a:t>
            </a:r>
            <a:endParaRPr sz="1600"/>
          </a:p>
          <a:p>
            <a:pPr indent="-193675" lvl="0" marL="143986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pl-PL" sz="1600"/>
              <a:t>Organizing metrics and visuals into </a:t>
            </a:r>
            <a:r>
              <a:rPr lang="pl-PL" sz="1600">
                <a:solidFill>
                  <a:srgbClr val="C89140"/>
                </a:solidFill>
              </a:rPr>
              <a:t>purposeful analytical chapters</a:t>
            </a:r>
            <a:r>
              <a:rPr lang="pl-PL" sz="1600"/>
              <a:t> aligned with an executive audit scenario.</a:t>
            </a:r>
            <a:endParaRPr sz="1600"/>
          </a:p>
          <a:p>
            <a:pPr indent="-193675" lvl="0" marL="143986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pl-PL" sz="1600"/>
              <a:t>Preparing </a:t>
            </a:r>
            <a:r>
              <a:rPr lang="pl-PL" sz="1600">
                <a:solidFill>
                  <a:srgbClr val="C89140"/>
                </a:solidFill>
              </a:rPr>
              <a:t>comprehensive documentation</a:t>
            </a:r>
            <a:r>
              <a:rPr lang="pl-PL" sz="1600"/>
              <a:t> to effectively communicate methodology.</a:t>
            </a:r>
            <a:endParaRPr sz="1600"/>
          </a:p>
          <a:p>
            <a:pPr indent="-193675" lvl="0" marL="143986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pl-PL" sz="1600"/>
              <a:t>Translating data into </a:t>
            </a:r>
            <a:r>
              <a:rPr lang="pl-PL" sz="1600">
                <a:solidFill>
                  <a:srgbClr val="C89140"/>
                </a:solidFill>
              </a:rPr>
              <a:t>actionable business insights</a:t>
            </a:r>
            <a:r>
              <a:rPr lang="pl-PL" sz="1600"/>
              <a:t>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2025-10-24T08:49:32Z</dcterms:created>
  <dc:creator>Dominika D</dc:creator>
</cp:coreProperties>
</file>